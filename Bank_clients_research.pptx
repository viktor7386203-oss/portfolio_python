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53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90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68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96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52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30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65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65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3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10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31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16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709D1-1714-468E-9EA9-78D19F1F4A19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CCD38-EE1F-4203-9D79-2B9273A851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0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alpha val="1000"/>
                <a:lumMod val="42000"/>
                <a:lumOff val="58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04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58240" y="1630680"/>
            <a:ext cx="9890760" cy="233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Исследование банковских клиентов</a:t>
            </a:r>
            <a:endParaRPr lang="ru-RU" sz="48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812280" y="5358384"/>
            <a:ext cx="4562856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Исследование выполнил Булгаков Виктор      в рамках курса по анализу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996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utoShape 2" descr="data:image/png;base64,iVBORw0KGgoAAAANSUhEUgAABjAAAAMQCAYAAACJ8yxvAAAAOnRFWHRTb2Z0d2FyZQBNYXRwbG90bGliIHZlcnNpb24zLjEwLjAsIGh0dHBzOi8vbWF0cGxvdGxpYi5vcmcvlHJYcgAAAAlwSFlzAAAPYQAAD2EBqD+naQABAABJREFUeJzs3XlcVPX+x/H3DDDssm8qKqKoaZZllEuupaiV6zXS7Oq1q2Vlq6WpWdpmaVa2m9nVskxbLPcllxbzqllaXSsXEhRRQQRkh/n94W8mhhlAEGWE1/Px8KFzvud85vP9zjlfz8xn5hyD2Ww2CwAAAAAAAAAAwIkYazoBAAAAAAAAAACA0ihgAAAAAAAAAAAAp0MBAwAAAAAAAAAAOB0KGAAAAAAAAAAAwOlQwAAAAAAAAAAAAE6HAgYAAAAAAAAAAHA6FDAAAAAAAAAAAIDToYABAAAAAAAAAACcDgUMAAAAAAAAAADgdChgAAAAAAAAAAAAp+Na0wkAAACgeiUlJalnz54O21xdXRUQEKDLL79ct912m7p06XKRswMAAAAA4NxQwAAAAKilPD09dd9999ksy8zM1MGDB7Vx40Z9/fXX+ve//61HHnmkhjIEAAAAAKBsBrPZbK7pJAAAAFB9LL/A8Pf31/bt2x2u87///U+33XabcnJytHTpUrVt2/YiZwkAAAAAQPn4BQYAAEAd1KpVKw0ZMkSLFi3S2rVrrQWMoqIiLVmyRF988YX279+vvLw8+fv76+qrr9Zdd92lyy67zC7W6dOn9dZbb2nDhg06duyYvLy8dN1112n8+PGKjo62rjdx4kR9/vnn5eb13HPPadCgQTbrz5w5UyEhIXrttdf0+++/y2w2q0WLFrrrrrvUrVs3uxh79+7VvHnztGvXLp0+fVp+fn666qqr9O9//7vMQs3111+v48ePO2xbuHChrr32Wptl33//vRYsWKA9e/bozJkzCgwM1HXXXae77rpLTZs2tYvx8MMPa8WKFWX2u/Rz5Ofn6/3339eqVat06NAhGY1GNWzYUP369dOoUaPk7u5uXfezzz7TpEmTNHDgQD3//PM2cS3FrAYNGujrr7+2WRYbG6tFixbZrP/zzz9r6NCh551TWbZv36477rjD7rnXrl2r8ePHq0ePHnrzzTetyw8dOqS4uLgy45WMY4ntaBxWrVqlBx98UJK0ceNGNWzY0NqWmZmpefPmaf369UpKSpKbm5uaNm2qgQMHKj4+Xi4uLtZ1586dq9dee0333nuv3a+bSvfN8rpU5Pfff5ckmc1mffrpp/r000/1559/Kjc3V0FBQYqNjdWYMWPUvHlz6zaOLhPn4uKigIAAtWrVSoMHD1afPn0qfG5LzuVxtJ9s2LBBH374oX777TedOXNGfn5+ateunUaPHq127dpV+LyS1KNHDx05csT62GAwyM/PT40aNVJcXJxGjBghk8lkba/M+EjSmjVrtGjRIu3fv1/5+fmKjIxUv379NGLECHl5eUn6exwbNmyor776Si+99JLWr1+v1NRUBQQEqFevXnrggQfk6+trEzslJUVvvvmmvv32W6WkpEiSGjRooF69emns2LHy9va26++PP/6o+fPna9euXcrKylJERIQGDhyoUaNGydPTs9xL/5W0cOFCPfHEE0pISNCSJUt05ZVX2q1jeV1bt26tzz77rMKYAAAAzowCBgAAQB0VFRUlSTp27Jh12eTJk/X555+rSZMmGj58uDw8PLR3716tXbtWW7Zs0UcffWRTxEhLS9OQIUOUnJysvn37atCgQUpKStKXX36pTZs2adGiRbriiitsnrdv375q06aNzbJVq1bpl19+cZjn9u3btXr1at14443q3LmzNf5dd92lN954Qz169LCuu27dOj300ENyc3NTXFycGjRooMTERK1atUobN27Uyy+/rF69etnEz83N1YkTJ+Tv768xY8ZYl3/00UdKTEy0y2fhwoV69tln5efnp7i4OIWEhOjPP//UV199pXXr1um9997TVVddZbPN4cOHJUljx46Vn59fuc+Rl5enkSNH6scff1SbNm30z3/+U4WFhfr+++81Z84cbd68We+//748PDwcjtf5mDlzpsPlFzKn9PR0TZ8+XSEhIXrmmWds2izj1rp1a/Xr189m+ccff3xO8fPz8/XSSy85bDt16pTi4+OVkJCga6+9VnFxcTpz5ow2b96s6dOna9u2bZo7d64MBkOl+3X55Zfr0UcftT627OOO9n/pbMHuiy++UP369XXzzTcrKChIf/zxh1atWqX169fr3XffVfv27W228fPz09ixYyVJhYWFSkpK0ooVK/TNN98oOztbgwcPPqdcIyMjddttt9ksK2uMX331Vb3++uvWD/jDwsJ0+PBhrV27Vl9//bVmz559TsUTi7vuukv16tWT2WxWamqqVq9erRdeeEF//PGHzf5YmfH58ssvNWHCBEVERGjw4MHy8vLSpk2b9NJLL2nz5s368MMPZTQarbELCgp033336cSJE+rbt6+8vLy0Zs0affDBB9q7d68++ugjayHr+PHjGjx4sE6cOKEePXpo4MCBys7O1vr16/X222/rv//9rxYvXmwTf8WKFXr00UcVGBiogQMHytvbW9u3b9crr7yiLVu2aOHChfL397fZX3755RetWrVKbdq0Ud++fa3LGzVqpIEDB2rOnDn69NNPHRYwVq5cKUnWYjAAAMAlzQwAAIBaJTEx0RwTE2OOjY0td72XX37ZHBMTY54+fbrZbDabDx8+bI6JiTFfc8015vT0dJt1p0+fbo6JiTGPHz/eZvl9991njomJMX/88cc2yzdv3myOiYkx33TTTdZljz32mDkmJsb86aef2uXiqM2yrEWLFuZvvvnGZv1ly5aZY2JizHFxcdZl6enp5quuusp85ZVXmvft22ez/i+//GJu3bq1OTY21pyZmWnT9vvvv5tjYmLMt99+u83y22+/3RwTE2P+4YcfrMsOHDhgbtWqlblTp07m5ORkm/U3btxojomJMffq1ctcVFRk0xYbG2tu0aKFOTc3t8LnmDNnjjkmJsb86KOPmouLi63LCwsLzePHjzfHxMSY33jjDevyTz/91BwTE2N+7LHHzKVZ9oXu3bvbLSvd33Xr1pljYmLM7du3P++cyvLDDz/YPfeECRPMMTEx5s2bN9utv2jRInNMTIx51qxZFcaxLCs9DgsWLLDpV2JiorXtkUceMcfExJhffvllm21yc3PN8fHx5piYGPPy5cuty1999VVzTEyM+dVXXz2nvpVU3v6/fv16676TkZFh0/bll1/a7euOXleLDz/80BwTE2MeMWKEwzzONWdHbb/++qu5RYsW5tjYWLv9f8eOHeaWLVuar7nmGnN2dnaFz929e3e718NsNpv3799vjomJMV922WXmwsJCs9lc+fGZPHmyuWvXruaUlBTrsry8PPP1119vjomJMe/evdtsNv89jpZ+5ufnW9fPyckx9+7d2xwTE2NeuXKldfkrr7xijomJMU+cONEmj6ysLHOnTp3s9uXjx4+br7zySnNsbKxNPmaz2XrsvPfee3bjU95xnZycbG7ZsqX5qquuMufk5Ni0FRQUmK+99lpz69atzWlpaXbbAgAAXGqMFZc4AAAAUNvk5+dr1apVks5ePkmS/P39tXDhQr3++us2vxKQpBtuuEHS35e7kc5+c379+vXy9/fXkCFDbNbv2rWr7r77bvXr1095eXnnlWu7du3UuXNnm2UDBgyQn5+fDh48aP0Fw4oVK5SVlaUhQ4aoRYsWNuu3bt1affv2VXp6uvVSShb79++XJDVp0qTCXJYuXaqioiLdeeedCg8Pt2nr0aOH2rdvr4SEBO3evdu6PCsrS+np6QoLC6vwMktms1lLliyRi4uLHnvsMZtv/ru4uFhvuF7Rpbgqq7CwULNmzVJMTIzdZbkuZE5r167V8uXLNWLECHXt2tWu3fLaNmrUqNKxJSkjI0NvvvmmunTpopYtW9q0ZWZmauXKlQoICNA999xj0+bu7q7x48dLqv6xdsTyHP/+97/tLld08803q1GjRjp48KB+/fXXCmOFhoZKkurVq1fteX7xxRcym80aNmyY3f7fvn17XXvttTp9+rS++eabKj9HSEiIJMnb29v6q4fKjs/TTz+tzZs3W8dCkkwmk3x8fCTJ5tcRFnfffbfc3Nysjz08PBQfHy9J2rx5s3V5//799c4779jtM97e3urQoYMk23ly5cqVys7O1i233GKTjySNGzdOY8eOVYMGDSoaFhvh4eHq2LGjsrKytGbNGpu277//XqdOnVK3bt0UEBBQqbgAAADOiEtIAQAA1FJms1lJSUk2y7Kzs3Xo0CG9++67SkhIUJcuXawfHPv6+trc8yAjI0OZmZkym80qLCyUdLbwYfHrr7+quLhYMTExNvcJsHjggQeqpR+lL8cknf3gPCoqSj/99JMOHjyoyMhI/fTTT5LOfrhXut/S3x+C7927V7fccot1uaWA0axZswpz+fnnnyWd/ZDV0XM0bdpUO3fu1N69e3X11VdL+vsySI0bN64wfmJiotLS0hQWFqbs7GxlZ2fbtFvuE/DXX38pIyPD5kPq7Oxsu5xKXh6sPEuWLFFCQoIWLFigL7/8stpyKktubq5Wr16txx9/XO3atbO5dE5JlrE7l+KSI2+++aaysrI0ceJEPfnkkzZtv/zyi4qKitSoUSOH4xQcHCyDwaC9e/fatWVkZNiN9cmTJ6uUoyUXyfG+Lklt27bV4cOH9dtvv6l169bW5ZbLRklScXGxDh06pFdffVU+Pj42l0OrLueS57Zt2/Trr7/aXaqtLJaxN///JaTee+89GY1Gm/njfMbn8OHDOnr0qD755BMdOHBAvXv31uWXX26zvcFgcHgpJss9fA4ePGhd1rhxY+uxXFhYqFOnTlmLtJYCZcmirWX/adWqlV38Fi1a2BVbz9XgwYP17bff6tNPP9WAAQOsyy2F6ZLLAAAALmUUMAAAAGqp06dPl3lTWC8vL40ePVoPPPCAzTfqd+7cqddff107d+60KVY4kpqaKunCfNO7pKCgIIfL/f39JZ39MFk6ez8OSXrhhRf0wgsvlBmv9AfNv/32myTZfUPfEUufH3rooXLXK/kcCQkJks7tQ3hL/JSUlApv6HvixAmbsV+7dq3Wrl1b4XOUlpWVpddee03du3dXx44d7QoY55NTWfbs2WP9gLpdu3Y2N2su6a+//pJUtQLGkSNH9MEHH+i2226zuZm8haVfP//8c7n9yszMVF5ens2vZxYuXKiFCxdWOqeyWHIpa1+3fJP+1KlTNssdvSZRUVF65513yrxh/YXMMzAw0GGe5Rk+fLjN43r16umpp56y3kz+XJ63rPE5duyY9X4c9erV06OPPqrRo0fbbe/p6Wm9sXdJljkmMzPTuqy4uFjvv/++lixZor/++ktms7nc/lnmpeqeJ2+44Qb5+flpx44dSkxMVGRkpPLz87VhwwYFBAQ4/EUTAADApYgCBgAAQC3l7e1t90G+i4uLAgICdNlll9l9aLxjxw6NHDlShYWF6t27tzp16iR/f3+5uLjo6NGjdjdYtlyGpaJCx/lydLkX6ewHiZLsLss0evToMr+pLcnuMi579uyR0Wi0+eZ2WSzFnkcffbTcX1SUvOSR5dvbjj5ELyt+RESEpkyZUu66YWFhNo+vvfZa3XHHHTbLUlNT9cQTT5QbZ968ecrMzNRjjz1W7TmVJSYmRs8884wef/xxffDBBxo+fLgaNmxos47l2/P16tWzXlaoMl566SV5enrq3nvvddhu6Vfr1q01bty4cmOV/oVR3759bW4qLkl//PGHXnnllUrnWTKXsj4ML2t5YGCgZsyYIenscZicnKylS5fqjjvu0OOPP25XHDhfFeVpOSYrc9Pz6dOnKygoSMXFxUpNTdXatWs1depUbd++XbNnzz6n5y1reVBQkGbOnKmEhAStWLFCL774oo4fP65JkybZrOfoF2Ql45acK6dNm6ZPPvlEAQEBGj16tGJiYuTt7S1J+uyzz7Rx40abGBdqnjSZTLrpppv04Ycf6vPPP9f48eO1detWZWZmasSIETaXwwIAALiUUcAAAACopdzc3Kz3rjgX8+bNU2Fhoe655x7r9f8tdu7cabe+5dvQlm8YXyhlfZs7PT3dJg/Lh9wRERHn3O/9+/crNTVVLVu2tF4fvzwhISE6dOiQoqKi1KNHj3N6jj/++EOS40vIlBYcHCxJysnJqdRrJ0n169e328bRZa5KSklJ0fvvv69hw4YpKiqq2nMqi7+/v9q2bat7771X999/v+bMmWP9sNri0KFDKigoULt27Sod/5dfftHKlSs1adIk67foS7P0S1Kl+9W0aVO7bUrfm6EygoKClJycrNTUVIf5Wo6x0r9A8PT0tMvjpptuUteuXTVz5kwNHTq0Wj/IDgoK0qFDh6y/iDjXPMvTqVMnm+LV0KFDdcstt2jFihW67bbb1L59+/MaH8ullO68807Fx8fr/fffV9euXdWxY0fremfOnFF+fr5dUdcy91j2lRMnTmjZsmVyc3PT4sWL1bRpU5v1N23aZJebJafK/CrlXA0ePFgffvihVq5cqfHjx+urr76SJA0cOLDanwsAAKCmcBNvAAAASPr7fgOOPpj//vvv7Za1atVKrq6u+v3333X69Gm79qeeekrjxo0r88POc2W570RJhYWFOnTokCRZP/y84oorJEnfffedwzgnTpzQmTNnbJZZPnDs1KnTOeVieQ5H4yGdvWRN6ZuW//zzz3J1dVWbNm0qjN+wYUMFBwcrPT29zBs2Wy6rVB1efvlleXh4lPkrhQudU+/evdWyZUutXLlSe/bssWmz3NPE0b0JKjJz5kw1adJEw4YNK3Od1q1by83NTX/88YdOnDhh115UVGS9ifiFZrknw65du+zazGazdSxK37vBkbCwMAUEBCgvL0/JyckXLU9J+vHHH23WqwoXFxfr/Wgsx3hlxyc/P9/uNfXx8dE111wjSXb7cXFxsd3+J/19fxzLTbaPHDmi4uJiRUVF2RUvioqKtH37drsYlpwctR08eFDjxo3TnDlz7NrORevWrdWiRQslJCTohx9+0KZNmxQTE3NOvyYDAAC4VFDAAAAAgKSzN7+WpD///NNm+ebNm63f7M3IyLBeVsXf3189e/ZUQUGBFixYYLPNjz/+qMWLF+vgwYOV+ja2I9u3b9eOHTtsln322WfKzMzUZZddZr1sUZ8+feTt7a3Nmzfrv//9r836WVlZuuuuu3TttddaL+lkNpv12WefSZLi4uLOKZeBAwfKxcVFn376qQ4cOGDTdvz4cQ0bNkydO3e2FnR++eUXHTt2TFdddZXDa+w7MmTIEElnL4FUUFBg07ZixQr16tWrzMs9VUZCQoK++OIL3XfffRVen/9C5WQwGHTffffJbDbbXe7Mcime66+/vlIxt23bpv/+97967LHHyv31gY+Pj+Li4lRQUKCXX37Z7jJE7777rm644Qa9+uqrlXr+qrCM77vvvmtzvwVJWrZsmY4ePaq2bdsqJiamwliHDx/WqVOn5OHhUaVLb5Vn8ODBMhqN+vjjj+2KI99995127dqlsLAwde7cucrPkZ+fb70vjeVSbJUZn9TUVF133XX617/+ZVOwLCoqshY6LAWJkt58800VFRVZH+fk5OiTTz6RJHXv3l3S33Pk0aNHlZWVZZPztGnTlJubK0k2Bd0+ffrI09NTmzdvtptb33//fW3cuNF6CaqqGDRokCRpypQpysvL4+bdAACg1uESUgAAAJB09sPJbdu2afr06fr1118VGBiovXv3avv27Xr//ff1r3/9S5mZmXr88cfVu3dvdevWTRMnTtTPP/+sN998U7///rvatm2ro0eP6quvvpKbm5umTp163nn1799fY8aMUc+ePRUVFaWkpCR9+eWXcnFx0YQJE6zr+fv76+mnn9aECRP0r3/9S3379lXTpk118uRJrV27VsePH9eoUaPUtGlTbd26VVu3btXBgwfl5eWlHTt22BVJLB/Qrlq1Sqmpqerbt6+io6M1YcIEPf/88xoyZIhuvvlm1a9fX0ePHtXatWuVnp6uKVOmyMXFRW+88Yb1hti33XbbOff37rvv1rZt2/Ttt99qwIABuuGGG+Tq6qpffvlFW7ZsUUhIiO6+++7zHtfjx4+rWbNmio+Pr9GcbrjhBrVp00Y7duzQhg0b5Orqqq+//lqbNm1Ss2bNrN+aP1fHjh1Tp06drB86l2fixInas2ePli1bpj/++ENdunRRUVGRdu7cqR07dqhp06a6/fbbq9SvyujatatuvfVWLVmyRP3791fPnj3l6+urffv2adOmTfL397e7B410tjA3f/58SWc/oD9x4oRWr14ts9msf//73/L09KzWPJs3b64HHnhAL730kgYNGqS4uDgFBQXp4MGDWr9+vTw8PDRz5sxKXbZq6dKlqlevnsxmszIyMrR582YdPnxYHTp0UGxsrKTKjU9QUJCGDh2qBQsWqH///urdu7c8PT21detW/fbbb2rZsqXdZbcCAgLk7u6uQYMGqWPHjvL09NTatWuVkJCg2NhY66/SwsPD1alTJ3333XcaNmyYevXqpdzcXG3YsEFBQUF6/PHH9eCDD+qrr76Sv7+/Bg0apPr162vKlCmaMmWKhg0bpv79+8vf3187duzQDz/8oJiYmPO6V8ktt9yiWbNmKTExUS4uLrr55purHAsAAMAZUcAAAACAJOnmm29Wbm6uFi5cqKVLl8rX11dXX321Pv74Y8XExGjKlCmaNWuW1qxZo4YNG6pbt26qX7++PvvsM73++uvavHmzvvnmG3l7e6tz584aN26cLrvssvPOq02bNho8eLBee+01bdq0ScXFxWrbtq3uu+8+m+vYS2dvrtywYUPNnz9f33//vVauXClPT0+1atVKjz76qPXDvVWrVunzzz+XJGVnZ9t9+7+kjz/+WAcPHlTfvn0lSaNGjVJMTIz+85//aO3atcrMzJSvr6/atm2rESNGqEuXLjpx4oTeeecd+fr66u6777Zuey48PDy0cOFCLVy4UKtWrdJ//vMfFRYWKiwsTLfddpvGjh1r/Sb4+Xrsscfk6lrxW4ILndP48eM1ZswYzZo1S126dNHy5cvVrl07zZgxo1I3hJbOXoJo4sSJ57RucHCwli5dqvfee0/r16/XvHnzZDab1bBhQ/373//WnXfeWeY9NKrb9OnTdcUVV2jp0qX69NNPlZ+fr9DQUA0dOlRjx45V/fr17bY5ffq0dd81GAwKDg5WdHS0pk2bphtvvPGC5Dl27Fg1a9ZMixYt0ooVK5STk6PAwEDFxcVZ2yrjrbfesv67Xr16ioyM1KRJkxQfH2/z2ldmfCZOnKgmTZpo2bJl+uSTT5STk6P69etr9OjRuvvuu+3udWE2m/XSSy9p7ty5Wr16tY4fP67AwED985//1P3332+Tx+zZszV79mx9++23mjdvnsLDw9WvXz+NGTNGrq6uiouL09atW/Xxxx9bX4MhQ4aoYcOGevfdd/XVV1/pzJkzioiI0NixYzV27Njz+gVGYGCgunfvrnXr1qlTp04KDQ2tciwAAABnZDCX/q00AAAA4AQmTpyozz//XFOnTq32b8FbYm/cuNHmBsKOtGjRQrGxsVq0aFG15gCgZiUlJalnz57y9/d3eI+KS8WcOXP01ltv6dVXX1Xv3r1rOh0AAIBqxT0wAAAAAAC4BOXl5Wnp0qUKDw+3uzQWAABAbUABAwAAAACAS9Dzzz+v1NRUjRo1Si4uLjWdDgAAQLXjHhgAAAAAAFwi9u3bpy1btuj777/XDz/8oCuuuOK8bgQOAADgzChgAAAAAABwidi/f7/mzJkjHx8fDRo0SJMmTZKbm1tNpwUAAHBBcBNvAAAAAAAAAADgdLgHBgAAAAAAAAAAcDpcQqoKCgsLdfr0abm7u8topAYEAAAAAAAAAMC5KC4uVl5envz8/OTqWn6JggJGFZw+fVoJCQk1nQYAAAAAAAAAAJekJk2aKCgoqNx1KGBUgbu7u6SzA+zp6VnD2QB/y8nJUUJCAvsmUAUcP0DVcOwAVcOxA1Qdxw9QNRw7QNVw7FQ/y5haPmcvDwWMKrBcNsrT01NeXl41nA1gj30TqDqOH6BqOHaAquHYAaqO4weoGo4doGo4dqrfudyegRs4AAAAAAAAAAAAp0MBAwAAAAAAAAAAOB0KGAAAAAAAAAAAwOlQwAAAAAAAAAAAAE6HAgYAAAAAAAAAAHA6FDAAAAAAAAAAAIDToYABAAAAAAAAAACcDgUMAAAAAAAAAADgdChgAAAAAAAAAAAAp0MBAwAAAAAAAAAAOB0KGAAAAAAAAAAAwOlQwAAAAAAAAAAAAE6HAgYAAAAAAAAAAHA6FDAAAAAAAAAAAIDToYABAAAAwKls2bJFcXFxNn+uvPJKffHFF/rvf/+roUOHKi4uTn369NHKlSvttk9OTtZVV12lzz77rMJ45W0HAAAAoGa51nQCAAAAAFBS165d1bVrV+vjxMREjRw5Uj179lSPHj306quvqkOHDtq7d6+GDx+ua6+9VsHBwdb1p02bJn9//wrj3XDDDTbPW3o7AAAAADWLX2AAAAAAcGozZszQfffdp+LiYj3zzDPq0KGDJOnyyy+Xj4+PEhISrOsuX75crq6uio2NrTCej49PpbYDAAAAcHFRwAAAAADgtHbt2qXExETdcsst8vPzU69evaxtu3fvVm5urmJiYiRJqampmjt3rqZNm3ZO8SzOZTtHqnqpq+LiYs2fP18jRozQd999Z12elJSkFi1a2MQbNmyY3fP+8ssvuuyyy7R9+/ZK5QsAAABcariEFAAAAACn9dZbb2nMmDEyGm2/e/XXX3/poYce0hNPPKF69epJOvvLitGjRyssLKxS8c5lO0eqeqmrCRMmyMPDw5p3aWvWrCnzOQsKCvTEE08oNDS0UrkCAAAAlyJ+gQEAAADAKaWmpmrHjh3q3bu3zfI9e/bo9ttv17333qsBAwZIkjZs2KCTJ08qPj6+UvHOZbtzda6Xuho+fLgmT54sFxeXSj/HvHnzdPXVVysyMvK88wUAAACcHb/AAAAAAOCUvv76a7Vv315eXl7WZfv27dO4ceP0zDPP2Pz6Yc2aNUpISFDPnj0lSadOndKmTZuUlJSk8ePHlxnvXLY7FyUvTWU0Gsu91NVVV12l7OzsMmM98sgj+u2331SvXj09+OCDuvbaayVJBw4c0PLly/X5559r7Nix55wbAAAAcKmigAEAAADAKe3evVvNmjWzPi4sLNRDDz2kqVOn2hQvJGnWrFk2jydOnKjY2FgNGjSozHjnut25qMylrsri5eWlwYMHa+TIkWrevLlWr16tu+++W2vXrlVQUJAmT56syZMn2xRgAAAAgNqMS0gBAAAAcEopKSkKCQmxPv7uu+908OBBzZkzx+ZG119++WWV4lWXylzqqjyBgYF69tlnFRMTI4PBoL59+6pBgwbauXOnFi5cqEaNGqlLly7Vnj8AAADgrPgFBgAAAACnNH/+fJvHXbt21b59+85p2+eff77CeOe6XUUqc6mr8qSnpyszM9Pm/hZFRUVyc3PT+vXrlZiYqB49ekiSTpw4oYceekj333+/hg4dWumcAQAAgEsBBQwAAAAAOA+VudRVefbu3avJkydr2bJlCg0N1ZYtW5Samqr27dvrhhtusFl3xIgRuvfee633xwAAAABqIwoYAAAAAHAeUlJSFB0dbX1c8lJXc+bMsS4fN26cevTooSFDhshsNuvUqVOaMWOGZs+erYcfflg33nijRo0apREjRshgMMjPz09vvPGG/P39a6BXAAAAQM2jgAEAAAAA56Gyl7pas2aNsrOz9b///U+tWrWyufTUqFGjNGrUqAqfc9GiRVVPGAAAALhEcBNvAAAAAAAAAADgdChgAAAAAAAAAAAAp8MlpAAAAAA4lSOpR5WWmVbTaSjQN1ANgurXdBoAAABAnUUBAwAAAIDTOJJ6VF0m9VJufm5NpyIPk4e2PreOIgYAAABQQyhgAAAAAHAaaZlpys3P1cB+cQoOCqyxPE6mpunzlWuUlplGAQMAAACoIRQwAAAAADid4KBARYSH1XQa5TqfS13l5ubq0PFDKvY2y8PDo8o5cJkrAAAA1GYUMAAAAACgkpzlUldc5goAAAC1GQUMAAAAAKgky6Wubu57o4ICA2okh9S0U/pq1XoucwUAAIBaiwIGAAAAAFRRUGCAwsNCazoNAAAAoFYy1nQCAAAAAAAAAAAApVHAAAAAAAAAAAAATocCBgAAAAAAAAAAcDoUMAAAAAAAAAAAgNOhgAEAAADUMSdPntSYMWPUrVs39e7dW8uXL5ck/fDDDxo0aJB69uypwYMH648//pAkJSUlqUWLFoqLi7P+GTZsmDXekiVL1LdvX8XFxemOO+7Q/v377Z5zw4YNatGihZKSki5OJwEAAABc8lxrOgEAAAAAF9djjz2mNm3a6J133tGBAwc0depUderUSffee6/mzp2rDh06aMWKFRo/frxWr15t3W7NmjV2sX799VfNnj1bX331lcLCwrR48WI99NBD+vLLL63rZGZmavbs2fL3978Y3QMAAABQS/ALDAAAAKAOSU5O1q5duzR27FhJUnR0tBYvXqyff/5ZoaGh6tChgyTppptuUk5Ojn7//fdy4/3555+KiopSWFiYJOm6667TgQMHZDabres8//zzuvXWW+Xt7X2BegUAAACgNqKAAQAAANQh+/btU3h4uObNm6c+ffpoyJAh2rJliwwGg4qKimzW9fb2VkJCgvXxI488or59+yo+Pl7bt2+XJF199dVKSEjQ/v37ZTabtWHDBnXq1EkGg0GStG3bNv3555+64447LlofAQAAANQOXEIKAAAAqEMyMjKUmJioJk2aaPXq1dqyZYseeOABrVmzRidPntTatWvVu3dvrV27VklJScrLy5OXl5cGDx6skSNHqnnz5lq9erXuvvturV27VpGRkRo/frz69+8vHx8fubu7a8GCBZKk7OxsPfXUU3rllVdkNPLdKQAAAACVw7sIAAAAoA7x8/OTp6en+vfvL0nq2rWrGjZsqF27dum1117TvHnzFBcXp59++kmtW7eWn5+fAgMD9eyzzyomJkYGg0F9+/ZVgwYNtHPnTm3ZskUffPCBNm3apO3bt+uJJ57QyJEjlZOTozlz5qhPnz5q0aJFDfcaAAAAwKWIX2AAAAAAdUhkZKRyc3NVUFAgNzc3SZKLi4tcXV3VoUMHLVu2TJJUWFio66+/Xi1btlR6eroyMzMVGRlpjVNUVCQ3Nzdt2bJFnTp1UmhoqCTphhtu0GOPPab9+/dr48aNKi4u1vLlyyVJx44d07BhwzRjxgx17dr1IvccAAAAwKWGX2AAAAAAdUh0dLRat26thQsXSpJ2796txMREtW7dWr1799aBAwckSQsXLlSbNm0UHh6uvXv3avjw4Tp+/LgkacuWLUpNTVX79u3VrFkzbd++XZmZmZKknTt3qqioSJGRkfr666+1efNmff311/r6668VHh6uxYsXU7wAAAAAcE5q9BcYO3bs0L/+9S+75YWFhRowYICee+45rVixQvPnz1dCQoKCg4PVu3dvPfjgg3JxcZEkpaWl6ZlnntGOHTuUk5Ojli1basKECWrbtq01XnXEAAAAAGqLmTNnatKkSfrwww/l4+OjOXPmqEGDBho7dqzGjBkjs9msZs2a6fnnn5ckXX/99Ro1apRGjBghg8EgPz8/vfHGG/L399fQoUN1+PBhDR48WEajUZ6ennrllVfk7+9fs50EAAAAcMmr0QLGNddco71799osO3XqlPr166dbbrlF//3vf/Xoo49q5syZ6tWrlxISEnTXXXfJ1dVVDzzwgCTpgQcekNls1scffyw/Pz/NmzdPd955p9asWaPAwMBqiQEAAADUJk2aNNFHH31kt3zQoEEaNGiQw21GjRqlUaNG2S13dXXVxIkTNXHixAqf9+uvv658sgAAAADqLKe7hNTTTz+trl27qkOHDvrggw/UqVMn3XzzzXJ3d1eLFi00cuRIffjhhyosLNQff/yh7du3a8KECapfv768vb117733ymg06osvvpCkaokBAAAAAAAAAAAuLqcqYGzfvl2bNm3ShAkTJEk//fSTrrjiCpt12rZtq4yMDB06dEg///yzXF1d1bp1a2u75fFPP/1UbTEAAAAAAAAAAMDFVaOXkCptzpw5uuOOO6yXbUpLS7O7dm5AQIAkKTU1VWlpafLx8bHey8LC399fKSkp1RajLPn5+TbbGY1Gubm5qbi4WAUFBXbru7u7W7czm802ba6urnJxcVFRUZEKCwtt2gwGg0wmk8xms/Lz8+3imkwmGQwGFRQUqLi42KbNxcVFrq6u5caVpLy8PLu4bm5uMhqN5catqK/lxS0sLFRRUZFNW3WMYXlxKxrDqr42FfW1smN4rnFL97Vk3y61MbwU929Hfb3Q+3dtG0NnmiMsSs/tUu2ZIyx9vRTn2Utx/65Lc4Qlr5LHTm2bI+rCeUTJvtbkGOY7eN6alF9QYDeObm5uNZSNYyXHzBnniLpwHsEccdbFGkPLOvn5+XJ3d6+V+3ddOo9gjrh4c4Tl+S051tY5wlHc2rZ/M0dc3DniUv68raK+1tR5hKO+lsVpChjbt2/XL7/8orfeequmUzlnKSkpNm/UfX19FRYWpqKiIiUmJtqt36xZM0nS8ePHlZuba9MWFhYmX19fZWVl6cSJEzZtXl5eql+/vsxms8O4UVFRcnFx0cmTJ3XmzBmbtuDgYPn7+ysnJ0fHjh2zaXN3d1dkZKQkKSkpye4gaNSokUwmk06dOqWMjAybtoCAAAUFBSkvL09HjhyxaXN1dVWTJk0kScnJyXYHUIMGDeTp6anTp0/r1KlTNm316tVTaGioCgsL7fpqMBgUHR0t6ezYlz5IwsPD5ePjo6ysLJ08edKmzdvbWxERESouLnY4hk2bNpXBYNDJkyeVnZ1t0xYSEiI/Pz9lZ2fbFbU8PDzUsGFDSXIYt3HjxjIajUpLS1NmZqZNW2BgoAIDA5Wbm6ujR4/atLm5ualx48aSpKNHj9od8A0bNpSHh4fS09OVnp5uXV5yvYKCArucjEajmjZtKkk6duyY3WQREREhb29vZWZmKjU11abNx8dH4eHhZe7fltfmxIkTysnJsWkLDQ1VvXr1dObMGR0/ftymzdPTUw0aNJDkeAybNGkiV1dXpaamKisry6YtKChIAQEBys3NVXJysk2byWRSo0aNJElHjhyxm4wjIyPl7u6u9PR0nT592qbN399fwcHBys/PV1JSkk2bi4uLoqKiJJ3dv0tP5PXr15eXl5cyMjKUlpZm08YccZazzhF+fn7WbUsXMGrLHCFJfn5+CgkJYY5gjrCqjjlCsj92atscURfOIyTnmCNSSu1rNe348eNKNPjaLCu57zuDlGPHpOZn/+2Mc0RdOI9gjri45xGWnFNSUmQ0GjmP0KV9HsEccfHmCMuxk5WVJV9f31o7R5TEe42zmCPOquocUfI4qM1zhMXFOI+o6IcDJRnMpfeAGjJ16lQlJyfr3XfftS7r1q2bhgwZonvvvde6bPfu3YqPj9eqVau0e/duTZs2TXv27LF5wzx69Gj5+vrq5ZdfrpYYpWVnZ+t///ufoqOj5enpaV1ONdO+r3WlWl9RXy9WNTMnJ0cHDhxQq1at5OHhcUmN4aW4f/ONh9o1RxQUFDic26XaM0dY+nopzrOX4v5dV+aIss6LatscURfOI0r2tSbHcO9fv+qWZ/6hf98xTBHhYXbrXizJx1I0b+FifTl5qdo0usymzc3NTb8e/k1xTw7QyNuHKjwstEZyPJZyXO9/8Im+nLxUVzdvJ8n55gipbpxHMEecdbHG0PK+Jzo6Wr6+vrVy/64r5xESc8TFnCMsx05MTIx8fX1r7RzhKG5t27+ZIy7uHHEpf95WUV9r6jwiIyPDOqZeXl52cWz6WW7rRVJcXKx169bp/vvvt1nerl07u/tQ7Nq1S/7+/tZqWWFhoX755RfrfS7y8/O1d+9e3XPPPdUWoywmk8m6c5ZkNBodLi+5XVlcXFzsvvlrYTAYyo1b3k/Zy4srqcpxK+preW2urq5ydXW8C57PGJYXt6IxrOprIznHGJacGC61MbwU9++qjiFzxLnFvdhzhOU/5bLm9oriMoZnMUf8rS7NEZa8HMVn/z6LOeKscxlDk5Ndnsnk5lZuzs6g5Jg54xzB/l1xXMbwrHMdQ8v7HpPJZB232rZ/16XzCPbviuNW1xhajh1LLMbw3OI64/7NHFFxXD5v+5szjGHpuOX1xy7WOa95Af31119KT09Xy5YtbZb/85//1PDhw/XVV1+pd+/e+v3337VgwQL985//lIuLi6Kjo9WlSxe98MILmjVrlnx9ffXqq6/KxcVF/fv3r7YYAAAAQG1xJPWo0jLTKl7xAgr0DVSDoPo1mgMAAAAA5+cUBQzLNegsN9e2uPLKKzVnzhy9+uqrmjRpkoKCgjRs2DDddddd1nVmz56tp59+WrfccosKCgp05ZVX6v3337feuLs6YgAAAAC1wZHUo+oyqZdy83MrXvkC8jB5aOtz6yhiAAAAACiXUxQwrr32Wv3+++8O23r16qVevXqVuW29evX0wgsvlBu/OmIAAAAAl7q0zDTl5ueqb1wPBQb610wOaelateZrpWWmUcAAAAAAUC6nKGAAAAAAuHgCA/0VFhZS02kAAAAAQLmMNZ0AAAAAAAAAAABAaRQwAAAAAAAAAACA06GAAQAAAAAAAAAAnA4FDAAAAAAAAAAA4HQoYAAAAAAAAAAAAKdDAQMAAAAAAAAAADgdChgAAAAAAAAAAMDpUMAAAAAAAAAAAABOhwIGAAAAAAAAAABwOhQwAAAAAAAAAACA06GAAQAAAAAAAAAAnA4FDAAAAAAAAAAA4HQoYAAAAAAAAAAAAKdDAQMAAAAAAAAAADgdChgAAAAAAAAAAMDpUMAAAAAAAAAAAABOhwIGAAAAAAAAAABwOhQwAAAAAAAAAACA06GAAQAAAAAAAAAAnI5rTScAAAAAALhwTp48qccff1x//PGH3N3dNW7cOF199dXq2bOnoqKirOsFBgZq8eLFkqT3339fS5YskdlsVkBAgJ544gm1atVKkpSZmaknnnhCq1at0p49e+Tu7i5J+uyzz/TUU08pIiLCGrNbt26aOHHiRewtAAAAahMKGAAAAABQiz322GNq06aN3nnnHR04cEBTp07V5ZdfLklas2aN3frffvutFi1apGXLlikgIEALFizQI488opUrVyovL0+33nqrevXq5fC52rZtq0WLFl3Q/gAAAKDu4BJSAAAAAFBLJScna9euXRo7dqwkKTo6WosXL5bJZCpzm4iICM2aNUsBAQGSpI4dOyohIUFms1lms1mzZs3SkCFDLkr+AAAAqNsoYAAAAABALbVv3z6Fh4dr3rx56tOnj4YMGaItW7ZY2x955BH17dtX8fHx2r59u6SzRY527dpJkgoKCrR06VJ1795dBoNBHh4euuyyy8p8vqNHj2r06NHq3bu3xo0bp6SkpAvbQQAAANRqFDAAAAAAoJbKyMhQYmKimjRpotWrV+u+++7TAw88IBcXFw0ePFhjxozRypUrdccdd+juu+/WiRMnrNvOnj1bHTp00N69e/XEE09U+FyNGjXSjTfeqBdffFErVqxQ/fr1df/991/I7gEAAKCWo4ABAAAAALWUn5+fPD091b9/f0lS165d1bBhQ+3evVvPPvusYmJiZDAY1LdvXzVo0EA7d+60bvvwww9r+/btGjhwoOLj45WTk1Puc7Vv314TJ05UYGCg3NzcdO+99+qXX35RWlraBe0jAAAAai8KGAAAAABQS0VGRio3N1cFBQXWZS4uLnJ1dVViYqLNukVFRXJzc9OuXbu0Z88e67rx8fFKS0vT/v37y32uo0ePKjU11SaeJLm5uVVXdwAAAFDHUMAAAAAAgFoqOjparVu31sKFCyVJu3fvVmJiogoLCzV8+HAdP35ckrRlyxalpqaqffv22rdvn6ZOnaqMjAxJ0nfffSeDwaCoqKhyn+ujjz7SxIkTlZ+fL0l67733FBsbK19f3wvYQwAAANRmrjWdAAAAAADgwpk5c6YmTZqkDz/8UD4+PpozZ466dOmilJQUjRgxQgaDQX5+fnrjjTfk7++v2267TSkpKerfv79MJpM8PT31yiuvyMfHR9u2bdNTTz2lwsJCSdItt9wig8Gg//znP7rnnns0ffp09evXT0ajUc2aNdOLL75Yw70HAADApYwCBgAAAADUYk2aNNFHH31kt3zUqFEaNWqU3XKj0aiHHnpIDz30kF1bhw4dtGbNmjKf69lnnz2/ZAEAAIASuIQUAAAAAAAAAABwOhQwAAAAAAAAAACA06GAAQAAAAAAAAAAnA4FDAAAAAAAAAAA4HQoYAAAAAAAAAAAAKfjWtMJAAAAAAAujCOpR5WWmVajOQT6BqpBUP0azQEAAACXJgoYAAAAAFALHUk9qi6Teik3P7dG8/AweWjrc+soYgAAAKDSKGAAAAAAQC2Ulpmm3Pxc9erVVQGB/jWSw6m0dK1bt0VpmWkUMAAAAFBpFDAAAAAAoBYLCPRXaGhwTacBAAAAVBo38QYAAAAAAAAAAE6HAgYAAAAAAAAAAHA6FDAAAAAAAAAAAIDToYABAAAAAAAAAACcDgUMAAAAAAAAAADgdChgAAAAAAAAAAAAp0MBAwAAAAAAAAAAOB0KGAAAAAAAAAAAwOlQwAAAAAAAAAAAAE6HAgYAAAAAAAAAAHA6FDAAAAAAAAAAAIDToYABAAAAAAAAAACcDgUMAAAAAAAAAADgdChgAAAAAAAAAAAAp0MBAwAAAAAAAAAAOB0KGAAAAAAAAAAAwOlQwAAAAAAAAAAAAE6HAgYAAAAAAAAAAHA6FDAAAAAAAAAAAIDToYABAAAAAAAAAACcDgUMAAAAAAAAAADgdChgAAAAAAAAAAAAp0MBAwAAAAAAAAAAOB0KGAAAAAAAAAAAwOlQwAAAAAAAAAAAAE6HAgYAAAAAAAAAAHA6FDAAAAAAAAAAAIDToYABAAAAVJOTJ09qzJgx6tatm3r37q3ly5dLknbu3KmBAwfqxhtv1KBBg7Rr1y7rNitWrNDNN9+suLg4DRo0SNu2bbO2rVu3Tv369dONN96oYcOG6cCBA9a2JUuWqG/fvoqLi9Mdd9yh/fv3X7yOAgAAAMBFQAEDAAAAqCaPPfaYWrVqpc2bN+uNN97QkiVLlJmZqfHjx2vChAlav369JkyYoPvvv195eXk6cOCAZsyYoTfeeENr1qzRXXfdpfHjxys/P1/Hjh3T448/rpdfflnr16/XwIED9fDDD0uSfv31V82ePVsLFizQmjVrFBcXp4ceeqiGew8AAAAA1YsCBgAAAFANkpOTtWvXLo0dO1aSFB0drcWLF2vHjh0KDAxUx44dJUkdOnSQr6+vfvjhB3l5eWnOnDmKjIyUJHXs2FEZGRlKTU3V+vXrdfXVV6t58+aSpEGDBumvv/7S/v379eeffyoqKkphYWGSpOuuu04HDhyQ2WyugZ4DAAAAwIVBAQMAAACoBvv27VN4eLjmzZunPn36aMiQIdqyZYsSEhKsBQqLxo0b69ChQ4qIiLAWNoqLi7VkyRK1bt1a4eHhdtu5uLioYcOGOnTokK6++molJCRo//79MpvN2rBhgzp16iSDwXBR+wwAAAAAF5JrTScAAAAA1AYZGRlKTExUkyZNtHr1am3ZskUPPPCA7rzzTrm7u9us6+7uruzsbOvjDz74QK+99poCAgI0d+5cGQwG5eTkKCAgwOF2kZGRGj9+vPr37y8fHx+5u7trwYIFF6WfwIWQlJSknj17KioqyrosMDBQixcv1qpVq/Tmm2/qzJkzioyM1MyZMxUeHi7p7L1g/vOf/6i4uFihoaF64okn1KxZM3322Wd66qmnFBERYY3XrVs3TZw4UZJ0/PhxTZgwQfv379d33313cTsLAACAc0YBAwAAAKgGfn5+8vT0VP/+/SVJXbt2VcOGDWUymZSbm2uzbl5enry8vKyPb7/9dg0fPlybN2/W8OHD9eWXX8rLy8vhdt7e3tqyZYs++OADbdq0SaGhodqwYYNGjhypdevWydPT88J3FrhA1qxZY/P4zz//1OTJk/XJJ5+oefPmevvttzV58mTNnz/fei+Yr776SmFhYVq8eLEeeughffnll5Kktm3batGiRXbPcezYMf3zn/9Ujx49tH///ovSLwAAAFQNl5ACAAAAqkFkZKRyc3NVUFBgXebi4qLw8HAdOnTIZt1Dhw6pWbNm2rdvn7Zt2yZJMhgM6t69u4KCgrR7925FRUUpISHBuk1BQYGSkpIUHR2tLVu2qFOnTgoNDZUk3XDDDcrOzubDWNQ627ZtU/v27a33ghk1apS2b9+u06dPV/leMEajUe+++666det2odMHAADAeaKAAQAAAFSD6OhotW7dWgsXLpQk7d69W4mJierQoYOys7O1YcMGSdLatWuVl5en2NhYHTt2TI8++qhSUlIkSb///ruSk5PVsmVL9erVS3v27NHevXslSYsWLVKzZs0UFRWlZs2aafv27crMzJQk7dy5U0VFRXb32gAuNY888oj69u2r+Ph4bd++XQaDQcXFxdZ2Nzc3ubm56fDhwxXeC+bo0aMaPXq0evfurXHjxikpKUmSFBoayrECAABwieASUgAAAEA1mTlzpiZNmqQPP/xQPj4+mjNnjoKDg/X666/rqaee0gsvvCA/Pz/NnTtXJpNJ3bp10+jRozVs2DC5urrKxcVF06ZNU5MmTSRJL774oh5//HHl5eUpPDxcL730kiRp6NChOnz4sAYPHiyj0ShPT0+98sor8vf3r7nOA+fBy8tLgwcP1siRI9W8eXOtXr1ad999t9577z3NmjVLu3fv1pVXXqn//Oc/KigoUF5eXrn3gmnUqJFuvPFGjRkzRr6+vpo5c6buv/9+ffrppzXcUwAAAFQGBQwAAACgmjRp0kQfffSR3fK2bduW+cHpyJEjNXLkSIdt3bp1c3iZG1dXV02cONF6Q2LgUhcYGKhnn33W+rhv37568803lZycrGeffVZPPvmkiouLdcsttygkJER+fn7l3gumffv2at++vTXevffeq2uvvVZpaWkKDAysiS4CAACgCriEFAAAAACgRqWnpysxMdFmWVFRkdzc3NSvXz8tX75cX331lYYMGaLMzEw1bty43HvBHD16VKmpqTaxpLOXoAIAAMClgwIGAAAAAKBG7d27V8OHD9fx48clSVu2bFFqaqoiIiLUp08fnTx5UpL0+uuv66abbpLJZCr3XjAfffSRJk6cqPz8fEnSe++9p9jYWPn6+tZMBwEAAFAlXEIKAAAAAFCjrr/+eo0aNUojRoyQwWCQn5+f3njjDbVu3VoDBgzQP/7xD0nS1VdfrRkzZkgq/14w99xzj6ZPn65+/frJaDSqWbNmevHFFyVJX3zxhd566y3l5ubq1KlTiouLkyStWbOmZjoPAACAMlHAAAAAAADUuFGjRmnUqFF2y8eOHauxY8faLS/vXjAeHh4299QoacCAARowYMB55wsAAIALzykuIfXFF1+oT58+uvzyy9WjRw/Nnz/f2vb9998rPj5e7du3V/fu3TV16lRlZ2db23NycvTkk0+qR48euuqqqzR06FBt3brVJn51xAAAAAAAAAAAABdPjf8CY/Xq1Xruuec0e/ZsxcbGavfu3XryySfVvn17+fn5aezYsXrwwQf13nvvKTU1Vffff7+mTZtm/fnv9OnTtWfPHs2bN08NGzbU559/rnHjxmn58uWKjo5WQkLCeccAAAAAKnIk9ajSMtNqOg0F+gaqQVD9mk4DAAAAAM5bjRcw5s6dq1GjRqlz586SpGuvvVarV6+WJM2cOVORkZH617/+JUny8vLSuHHjNH78eE2cOFGurq766quv9MILL1gLDfHx8fr444+1ePFiTZ06VUuWLDnvGAAAAEB5jqQeVZdJvZSbn1vTqcjD5KGtz62jiAEAAADgklejBYzjx4/rwIED8vX11YgRI/Trr7+qfv36uvPOOzVgwAD99NNPuuKKK2y2adu2rYqKirR3716ZTCYVFBToyiuvtFvnp59+kqRqiQEAAACUJy0zTbn5uepxQ2f5B/rVWB7paaf19YZvlZaZRgEDAAAAwCWvRgsYx44dkyR9/PHHevHFF9W4cWMtXbpUjz32mMLCwpSWlmZXWAgICJAkpaamyt3dXZLk5+dnt05a2tmf71dHjLLk5+fLxcXF+thoNMrNzU3FxcUqKCiwW9/yXPn5+TKbzTZtrq6ucnFxUVFRkQoLC23aDAaDTCaTzGaz8vPz7eKaTCYZDAYVFBSouLjYps3FxUWurq7lxpWkvLw8u7hubm4yGo3lxq2or+XFLSwsVFFRkU1bdYxheXErGsOqvjYV9bWyY3iucUv3tWTfLrUxvBT3b0d9vdD7d20bQ2eaIyxKz+1S7ZkjLH29FOfZS3H/rktzhCWvksdObZsjKtq/LfwD/RQSEmS3Tk0pPYb5DsalpuQXFFjzKzlHOFOOkm2eFm5ubjWUjWMlx6zk/u1MY1l6HOvaHMF5RPWOoWWd/Px8ubu7cx6hS/s8oi6813CWOcLy/JYca+sc4Shubdu/mSMu7hxxKX/eVlFfa+o8wlFfy1KjBQzLoA8bNkwtW7aUJN1xxx1avny5Pv3005pM7ZykpKTYvFH39fVVWFiYioqKlJiYaLd+s2bNJJ395Uluru3lBcLCwuTr66usrCydOHHCps3Ly0v169eX2Wx2GDcqKkouLi46efKkzpw5Y9MWHBwsf39/5eTkWAtGFu7u7oqMjJQkJSUl2R0EjRo1kslk0qlTp5SRkWHTFhAQoKCgIOXl5enIkSM2ba6urmrSpIkkKTk52e4AatCggTw9PXX69GmdOnXKpq1evXoKDQ1VYWGhXV8NBoP1Ml8pKSl2B0l4eLh8fHyUlZWlkydP2rR5e3srIiJCxcXFDsewadOmMhgMOnnypM0N3iUpJCREfn5+ys7OVkpKik2bh4eHGjZsKEkO4zZu3FhGo1FpaWnKzMy0aQsMDFRgYKByc3N19OhRmzY3Nzc1btxYknT06FG7A75hw4by8PBQenq60tPTrctLrldQUGCXk9FoVNOmTSWdLSCWniwiIiLk7e2tzMxMpaam2rT5+PgoPDy8zP3b8tqcOHFCOTk5Nm2hoaGqV6+ezpw5o+PHj9u0eXp6qkGDBpIcj2GTJk3k6uqq1NRUZWVl2bQFBQUpICBAubm5Sk5OtmkzmUxq1KiRJOnIkSN2k3FkZKTc3d2Vnp6u06dP27T5+/srODhY+fn5SkpKsmlzcXFRVFSUpLP7d+mJvH79+vLy8lJGRoZdEZQ54ixnnSMshezSc7tUe+YI6WzBPiQkhDmCOcKqOuYIyf7YqW1zREXnEc6q9ByRUup1rEkpx47Jz+AryXaOcKYcpbPHXOL/52lRct93BinHjknNz/675BzhTGNZ8vWW7OeIlNPHdTr77HzrW6+e/P38lJuXpxOl/l9wcXFV/foRkqSjR5NVVGQ7R4SEhsrD3V3pp08rs9Tc4+3to8DAABUUFOrYMdv/F2Qw6IpWbdUgqD7vNS6B8whLzikpKTIajZxH6NI+j6gL7zWcZY6wHDtZWVny9fWttXNESbzXOIs54qyqzhElj4PaPEdYXIzziNL5lqdGCxihoaGSzv4nUVKjRo104sQJBQcH23XUsvMEBwdbqz3p6eny9va2WSc4ONi63vnGKEtYWJg8PT2tjy3f4HVxcSn3TU1oaKjDipl0dlL28PCwaTMYDNa/HcW1PG9wcLACAwNt2iwfJHh6etpta4krybpDO8opICDA7hcqlrilP7woLSIiwm6Z5Rtrfn5+8vHxcdgXV1fXcuOGhYWVO4YlX5eScY1Go8O4lrEIDg4uM66Xl1e5Y+gormWcAgMD5e/v77DNw8Oj3Lj169tf/sEyhv7+/vL1/fuNYE5OjvU/VTc3t3LHMDw8vMy++vr6ysvLy6btXPfvkJCQMuN6e3tXeQwtJweO2ioaQ8sJSUklx7D0HGSJazKZKty/HX3jQTo7r5WcUyTmCEecaY6wnPyVntul2jNHSH+PIXMEc0Tp5z2fOUKyP3Zq2xxh+bu88whnVHqOOG3OLGPNiy8sPNxuPENCQhSWHV5DGTkWGhpql6ez/QIjLPzvMSs5Rzjz611yjsgqOqM7Zv5buQX23+K7mCz3j+G9hvOfR1je94SFhVn/P+U84tI9j6gL7zUsf9f0HGE5dix9r61zhKO4zBHMEaVVZo4o+XlbbZ4jSrddyDkiLCzMrjBYlhovYPj7++uXX35Rv379rMv/+usvtWrVSgEBAdq4caPNNrt27ZKrq6suv/xyubm5yWQy6eeff7aZEH788Ud17NhRktSuXbvzjlEWk8lk/XlQSUaj0eHyktuVxcXFxe6bvxYGg6HcuOW9kSovrqQqx62or+W1ubq6Wg+0ysYtbwzLi1vRGFb1tZGcYwxLVj0vtTG8FPfvqo4hc8S5xb3Yc4SlgFHW3F5RXMbwLOaIv9WlOcKSl6P4dWn/dkal8zU50QfvJjc3+/xMJqfKUXKcp7MpOWYl929nGsuyxtHNzU1n8s4otyBPXXt2kF9APQdbX3inT2Voy8ZtFd4/pi6/16hM3At9HmF532MymazjxnnE+cetbWN4qe7fjlTXGFqOHUssxvDc4jrj/s0cUXFcPm/7mzOMYem45fXHLtY5r3kBuLi4aNSoUXr77bfVqVMnxcbGaunSpfrtt980ffp0+fv764MPPtD8+fM1bNgwJScna+7cuRowYIC1ajd48GC99tpratmypSIiIrR48WIdPnxYr7/+uiQpPj7+vGMAAAAAAC4sv4B6Cg4JrHhFAAAA1Bk1WsCQpLFjx6q4uFhTpkzRyZMn1aRJE73zzjtq06aNJGnevHl64YUX9PLLL8vX11f9+vXThAkTrNs//vjjeuGFF3T77bcrMzNTrVq10vz5863X4mrYsOF5xwAAAAAAAAAAABdXjRcwDAaDxo0bp3Hjxjlsv+aaa7R06dIytzeZTJoyZYqmTJlS5jrVEQMAAAAAAAAAAFw8xppOAAAAAAAAAAAAoDQKGAAAAAAAAAAAwOlQwAAAAAAAAAAAAE6HAgYAAAAAAAAAAHA6FDAAAAAAAAAAAIDToYABAAAAAAAAAACcDgUMAAAAAAAAAADgdChgAAAAAAAAAAAAp0MBAwAAAAAAAAAAOB0KGAAAAAAAAAAAwOlQwAAAAAAAAAAAAE6HAgYAAAAAAAAAAHA6rjWdAAAAAAAAzi4pKUk9e/ZUVFSUdVlgYKAWL16shIQETZo0SSkpKfL09NSkSZPUuXNnSdK6dev0xhtvKCcnRx4eHpo4caI6dOggSeVu9/7772vJkiUym80KCAjQE088oVatWl38jgMAANQgChgAAAAAAJyjNWvW2DwuLi7WPffco3/+858aOnSotm3bpkWLFqlz5846fPiwJk2apI8//ljNmzfXunXr9MADD+j777+XwWAoc7tvv/1WixYt0rJlyxQQEKAFCxbokUce0cqVK2uo1wAAADWDAgYAAAAAAFX0448/KicnR//4xz8kSR06dLD+wsLd3V1z5sxR8+bNJUldunRRenq6Tpw4oaSkpDK3i4iI0KxZsxQQECBJ6tixo2bNmiWz2SyDwXCxuwgAAFBjKGAAAAAAAHCOHnnkEf3222+qV6+eHnzwQf3555+KjIzUU089pW3btikkJESPPvqo2rZtq7CwMIWFhVm33bBhgxo0aKDQ0FBt2LChzO2io6Ot2xQUFGjp0qXq3r07xQsAAFDncBNvAAAAAAAq4OXlpcGDB2vMmDFauXKl7rjjDt19993KyMjQ7t27FRcXpzVr1qhfv34aN26ccnNzbbb/+eef9cwzz+iZZ56R0Wg8p+1mz56tDh06aO/evXriiScudpcBAABqHAUMAAAAAAAqEBgYqGeffVYxMTEyGAzq27evGjRooOLiYkVFRem6666TwWBQfHy8cnJy9Mcff1i33bx5s8aNG6fnn3/eepkoPz+/Crd7+OGHtX37dg0cONDaDgAAUJdQwAAAAAAAoALp6elKTEy0WVZUVKSWLVsqKyvLusxgMMhoNMrFxUWS9N1332nq1Kl666231LVrV+t6kZGRZW63a9cu7dmzR5Lk4uKi+Ph4paWlaf/+/ReyiwAAAE6HAgYAAAAAABXYu3evhg8fruPHj0uStmzZotTUVLVr106FhYVas2aNJGnVqlXy9vZW8+bNlZGRoccee0yvv/66Lr/8cpt4HTt2LHO7ffv2aerUqcrIyJB0tghiMBgUFRV1EXsMAABQ87iJNwAAAAAAFbj++us1atQojRgxQgaDQX5+fnrjjTcUFBSkuXPnaurUqZo1a5YCAgL06quvymQyadmyZUpPT9ejjz5qE+upp57StddeW+Z2t912m1JSUtS/f3+ZTCZ5enrqlVdekY+PTw31HgAAoGZQwAAAAAAA4ByMGjVKo0aNslvetm1bLV++3G75sGHDNGzYsDLjlbWd0WjUQw89pIceeuj8EgYAALjEcQkpAAAAAAAAAADgdChgAAAAAAAAAAAAp0MBAwAAAAAAAAAAOB0KGAAAAAAAAAAAwOlQwAAAAAAAAAAAAE7HtaYTAAAAAADA2R1JPaq0zLQazSHQN1ANgurXaA4AAAAXEwUMAAAAAADKcST1qLpMulG5+Xk1moeHyV1bn1tPEQMAANQZFDAAAAAAAChHWmaacvPz1Kl7rOoF1KuRHDJOZei7Tf9VWmYaBQwAAFBnUMAAAAAAAOAc1Auop6DggJpOAwAAoM7gJt4AAAAAAAAAAMDpUMAAAAAAAAAAAABOhwIGAAAAAAAAAABwOhQwAAAAAAAAAACA06GAAQAAAAAAAAAAnA4FDAAAAAAAAAAA4HQoYAAAAAAAAAAAAKdDAQMAAAAAAAAAADgdChgAAAAAAAAAAMDpUMAAAAAAAAAAAABOhwIGAAAAAAAAAABwOhQwAAAAAAAAAACA06GAAQAAAAAAAAAAnA4FDAAAAAAAAAAA4HQoYAAAAAAAAAAAAKdDAQMAAAAAAAAAADgdChgAAAAAAAAAAMDpUMAAAAAAAAAAAABOhwIGAAAAAAAAAABwOhQwAAAAAAAAAACA06GAAQAAAAAAAAAAnA4FDAAAAAAAAAAA4HQoYAAAAAAAAAAAAKdDAQMAAAAAAAAAADgdChgAAAAAAAAAAMDpUMAAAAAAAAAAAABOhwIGAAAAAAAAAABwOhQwAAAAAAAAAACA06GAAQAAAAAAAAAAnA4FDAAAAAAAAAAA4HQoYAAAAAAAAAAAAKdDAQMAAAAAAAAAADgdChgAAAAAAAAAAMDpUMAAAAAAAAAAAABOhwIGAAAAAAAAAABwOhQwAAAAAAAAAACA06GAAQAAAAAAAAAAnA4FDAAAAAAAAAAA4HQoYAAAAAAAAAAAAKdDAQMAAAAAAAAAADgdChgAAAAAAAAAAMDpUMAAAAAAAAAAAABOhwIGAAAAAAAAAABwOhQwAAAAAAAAAACA06GAAQAAAAAAAAAAnA4FDAAAAAAAAAAA4HQoYAAAAAAAAAAAAKdDAQMAAAAAAAAAADgdChgAAAAAAAAAAMDpuNZ0Aj169FBKSoqMRttayrx583Tdddfp+++/16uvvqr9+/fL19dXnTt31qRJk+Tl5SVJysnJ0cyZM7V161alp6erWbNmuvfee9WlSxdrrOqIAQAAAAAAAAAALh6n+AXGjBkztHfvXps/1113nRISEjR27Fj16tVLW7du1cKFC/Xrr79q2rRp1m2nT5+uHTt2aN68edq2bZsGDRqkcePG6cCBA5JULTEAAAAAAAAAAMDF5RQFjLIsWbJEkZGR+te//iUvLy9FRkZq3LhxWrlypVJTU3X69Gl99dVXuueeexQdHS13d3fFx8erWbNmWrx4cbXFAAAAAAAAAAAAF1eNX0JKktasWaP33ntPycnJatiwoUaNGqUBAwbop59+0hVXXGGzbtu2bVVUVKS9e/fKZDKpoKBAV155pd06P/30kyRVSwwAAAAAAAAAAHBx1XgBIyYmRo0aNdJzzz0nDw8PffHFF3rsscfk7e2ttLQ0u8JCQECAJCk1NVXu7u6SJD8/P7t10tLSJKlaYpQlPz9fLi4u1sdGo1Fubm4qLi5WQUGB3fqW58rPz5fZbLZpc3V1lYuLi4qKilRYWGjTZjAYZDKZZDablZ+fbxfXZDLJYDCooKBAxcXFNm0uLi5ydXUtN64k5eXl2cV1c3OT0WgsN25FfS0vbmFhoYqKimzaqmMMy4tb0RhW9bWpqK+VHcNzjVu6ryX7dqmN4aW4fzvq64Xev2vbGDrTHGFRem6Xas8cYenrpTjPXor7d12aIyx5lTx2atscUdH+7axKj2G+g3GpKfkFBdb8Ss4RzpSjZJunhZubWw1l41jJMSu5fzvTWJYex5JzhDPlKTmeI4pKzWM1yTKWdfk8wrJOfn6+3N3dOY/QpX0eURfeazjL5xGW57fkWFvnCEdxa9v+zRxxceeIS/nztor6WlPnEY76WpYaL2C89dZbNo+HDx+uzZs36+OPP66hjM5dSkqKzRt1X19fhYWFqaioSImJiXbrN2vWTJJ0/Phx5ebm2rSFhYXJ19dXWVlZOnHihE2bl5eX6tevL7PZ7DBuVFSUXFxcdPLkSZ05c8amLTg4WP7+/srJydGxY8ds2tzd3RUZGSlJSkpKsjsIGjVqJJPJpFOnTikjI8OmLSAgQEFBQcrLy9ORI0ds2lxdXdWkSRNJUnJyst0B1KBBA3l6eur06dM6deqUTVu9evUUGhqqwsJCu74aDAZFR0dLOjv2pQ+S8PBw+fj4KCsrSydPnrRp8/b2VkREhIqLix2OYdOmTWUwGHTy5EllZ2fbtIWEhMjPz0/Z2dlKSUmxafPw8FDDhg0lyWHcxo0by2g0Ki0tTZmZmTZtgYGBCgwMVG5uro4ePWrT5ubmpsaNG0uSjh49anfAN2zYUB4eHkpPT1d6erp1ecn1CgoK7HIyGo1q2rSpJOnYsWN2k0VERIS8vb2VmZmp1NRUmzYfHx+Fh4eXuX9bXpsTJ04oJyfHpi00NFT16tXTmTNndPz4cZs2T09PNWjQQJLjMWzSpIlcXV2VmpqqrKwsm7agoCAFBAQoNzdXycnJNm0mk0mNGjWSJB05csRuMo6MjJS7u7vS09N1+vRpmzZ/f38FBwcrPz9fSUlJNm0uLi6KioqSdHb/Lj2R169fX15eXsrIyLArgjJHnOWsc4SlkF16bpdqzxwhnS3Yh4SEMEcwR1hVxxwh2R87tW2OqOg8wlmVniNSSr2ONSnl2DH5GXwl2c4RzpSjdPaYS/z/PC1K7vvOIOXYMan52X+XnCOcaSxLvt6S7RzhTHlKjueIvAL7N+g1xTKWdfk8wpJzSkqKjEYj5xG6tM8j6sJ7DWf5PMJy7GRlZcnX17fWzhEl8V7jLOaIs6o6R5Q8DmrzHGFxMc4jSudbnhovYDjSuHFj/fDDDwoODrbrqGXnCQ4OtlZ70tPT5e3tbbNOcHCwdb3zjVGWsLAweXp6Wh9bvsHr4uJS7pua0NBQhxUz6eyk7OHhYdNmMBisfzuKa3ne4OBgBQYG2rRZPkjw9PS029YSV5J1h3aUU0BAgN0vVCxxS394UVpERITdMss31vz8/OTj4+OwL66uruXGDQsLK3cMS74uJeMajUaHcS1jERwcXGZcyz1UHG0nOX4jaxmnwMBA+fv7O2zz8PAoN279+vXt4lrG0N/fX76+f78RzMnJsf6n6ubmVu4YhoeHl9lXX19feXl52bSd6/4dEhJSZlxvb+8qj6Hl5MBRW0VjaDkhKankGNarV89hXJPJVOH+7egbD9LZk9+Sc4rEHOGIM80RlpO/0nO7VHvmCOnvMWSOYI4o/bznM0dI9sdObZsjLH+Xdx7hjErPEafNmWWsefGFhYfbjWdISIjCssNrKCPHQkND7fJ0tl9ghIX/PWYl5whnfr1LzhEl83cGjuaIrCPZZax98VnGsi6fR1je94SFhVn/P+U84tI9j6gL7zUsf9f05xGWY8fS99o6RziKyxzBHFFaZeaIkp+31eY5onTbhZwjwsLC7AqDZanRAkZiYqLee+893X///TYD9fvvv6tRo0Zq2rSpNm7caLPNrl275Orqqssvv1xubm4ymUz6+eefbSaEH3/8UR07dpQktWvX7rxjlMVkMll/HlSS0Wh0uLzkdmVxcXGx++avhcFgKDdueW+kyosrqcpxK+preW2urq7WA62yccsbw/LiVjSGVX1tJOcYw5JVz0ttDC/F/buqY8gccW5xL/YcYSlglDW3VxSXMTyLOeJvdWmOsOTlKH5d2r+dUel8TU70wbvJzc0+P5PJqXKUHOfpbEqOWcn925nGsqxxdHNzc6o8JcdzhEuJy03WtNJjWZfmWUtcy/sek8lk/f+J84jzj1vbxvBS3b8dqa4xtBw7lliM4bnFdcb9mzmi4rh83vY3ZxjD0nErcxneGj0LCw4O1tdff61p06YpNTVVubm5WrhwoXbs2KFbb71V8fHxSk5O1vz585WTk6ODBw9q7ty5GjBggAIDA+Xr66vBgwfrtdde08GDB5WTk6P58+fr8OHDGj58uCRVSwwAAAAAAAAAAHBx1WgBw9PTUwsWLFB+fr5uuukmxcbG6ssvv9R7772nrl27qmHDhpo3b57WrFmj2NhY3X777erUqZOmTZtmjfH444+rY8eOuv322xUbG6u1a9dq/vz51mtxVUcMAAAAAAAAAABwcdX4PTCaNm2qN998s8z2a665RkuXLi2z3WQyacqUKZoyZcoFjQEAAAAAAAAAAC4e57mQJwAAAAAAAAAAwP+jgAEAAAAAQC2TnJysq666Sp999pm2bNmiuLg4mz9XXnmlvvjiizK3sdiwYYNuueUWxcXFaejQodq1a5e17f3331efPn0UFxen2267Tf/73/8uVvcAAEAdUeOXkAIAAAAAANVr2rRp8vf3lyR17dpVXbt2tbYlJiZq5MiRuuGGG8rcRpJOnDihCRMm6KOPPlLLli21ZcsWjRs3Tt9++622b9+uRYsWadmyZQoICNCCBQv0yCOPaOXKlRejewAAoI7gFxgAAAAAANQiy5cvl6urq2JjYx22z5gxQ/fdd598fHzK3SYhIUHe3t5q2bKlJKlDhw5KT09XamqqIiIiNGvWLAUEBEiSOnbsqISEBJnN5gvYMwAAUNdQwAAAAAAAoJZITU3V3LlzNW3aNIftu3btUmJiom655ZYKt2nVqpWKi4v1ww8/SJLWrVunmJgYhYWFKTo6Wu3atZMkFRQUaOnSperevbsMBsMF6hkAAKiLuIQUAAAAAAC1xIwZMzR69GiFhYU5bH/rrbc0ZswYGY3GCrfx8fHR9OnTNXbsWHl4eKi4uFhvvvmmTZFi9uzZ+uijjxQdHa25c+demE4BAIA6i19gAAAAAABQC2zYsEEnT55UfHy8w/bU1FTt2LFDvXv3Pqdt9u3bpyeffFJffPGFtm/frvnz5+uee+7RsWPHrOs8/PDD2r59uwYOHKj4+Hjl5ORUf8cAAECdxS8wAAAAAACoBdasWaOEhAT17NlTknTq1Clt2rRJSUlJGj9+vL7++mu1b99eXl5e57SNt7e3Lr/8ckVFRUmS2rZtq7CwMP30008KCQmRm5ub2rZtKxcXF8XHx+v555/X/v37dfnll1/8zgMAgFqJAgYAAAAAALXArFmzbB5PnDhRsbGxGjRokCRp9+7datas2Tlvs2XLFi1YsEApKSkKCwvToUOHlJiYqGbNmmn79u365JNPtGjRItWrV0/fffedDAaDtdgBAABQHShgAAAAAABQB6SkpCg6Ovqc1+/atavuuOMO3XHHHZIkV1dXTZs2Tc2aNVPTpk2VkpKi/v37y2QyydPTU6+88op8fHwuVPoAAKAOooABAAAAAEAt9Pzzz9s8nj9/fqW3GTNmjMaMGWO3ntFo1EMPPaSHHnro/JIEAAAoBzfxBgAAwCUlOTlZV111lT777DNJ0smTJzVmzBh169ZNvXv31vLly63rrlixQjfffLPi4uI0aNAgbdu2TZK0fft2tW7dWnFxcdY/Dz74oCTps88+0xVXXGHTVvoDPQAAAADAhccvMAAAAHBJmTZtmvz9/a2PH3vsMbVp00bvvPOODhw4oKlTp6pPnz5KTEzUjBkztGzZMkVGRmrdunUaP368vvvuO0lSWFiY1qxZ4/A52rZtq0WLFl2M7gAAAAAAysAvMAAAAHDJWL58uVxdXRUbGyvp7K8xdu3apbFjx0qSoqOjtXjxYplMJnl5eWnOnDmKjIyUJHXs2FEZGRlKTU2tsfwBAAAAAOeOAgYAAAAuCampqZo7d66mTZtmXbZv3z6Fh4dr3rx56tOnj4YMGaItW7ZIkiIiItSxY0dJUnFxsZYsWaLWrVsrPDxckpSVlaV77rlHcXFxGjVqlPbt22eNe/ToUY0ePVq9e/fWuHHjlJSUdBF7CgAAAACQKGAAAADgEjFjxgyNHj1aYWFh1mUZGRlKTExUkyZNtHr1at1333164IEHdPz4ces6H3zwgTp27Khly5bphRdekMFgUHBwsPr06aPHH39cq1at0vXXX6+77rpLeXl5atSokW688Ua9+OKLWrFiherXr6/777+/JroMAAAAAHUa98AAAACA09uwYYNOnjyp+Ph4m+V+fn7y9PRU//79JUldu3ZVw4YNtXPnTvXt21eSdPvtt2v48OHavHmzhg8fri+//FLR0dF66qmnrHFGjRql119/Xb///rvat2+v9u3bW9vuvfdeXXvttUpLS1NgYOBF6C0AVN2R1KNKy0yr0RwCfQPVIKh+jeYAAABqBwoYAAAAcHpr1qxRQkKCevbsKUk6deqUNm3apA4dOig3N1cFBQVyc3OTJLm4uMjV1VX79u3TqVOn1KFDBxkMBnXv3l1BQUHavXu32rdvr4KCAkVERFifo7i4WCaTSUePHpW7u7uCgoIkSUVFRZJkjQ8AzupI6lF1mXSjcvPzajQPD5O7tj63niIGAAA4bxQwAAAA4PRmzZpl83jixImKjY3VoEGDdOutt2rhwoUaPXq0du/ercTERF199dXau3evpk6dqmXLliksLEy///67kpOT1bJlS23YsEEff/yxPvjgA/n4+Oijjz5SSEiIoqOj9eqrr2rfvn16/fXXZTKZ9N577yk2Nla+vr411HsAODdpmWnKzc/TtV3bq55/zcxZGemZ2r5lp9Iy0yhgAACA80YBAwAAAJe0mTNnatKkSfrwww/l4+OjOXPmKCgoSN26ddPo0aM1bNgwubq6ysXFRdOmTVOTJk3UqFEjJSYmauDAgTIajQoPD9cbb7whNzc33XPPPZo+fbr69esno9GoZs2a6cUXX6zpbgLAOavn76uAYP+aTgMAAOC8UcAAAADAJef555+3/rtJkyb66KOPHK43cuRIjRw50m650WjUhAkTNGHCBLs2Dw8PPfvss9WWKwAAAACgaozVESQ7O1u7du1SWlrN3igMAAAAAAAAAADUDpUuYBw+fFg33XST2rRpo/vuu09paWm66aabNHz4cN14443avXv3hcgTAAAAAAAAAADUIZUuYDz33HMqLi7WyJEjdfz4cY0bN05RUVF6++231alTJ7300ksXIk8AAAAAAAAAAFCHVPoeGLt27dL8+fN1+eWXKz09Xdddd50+/vhjXXnllWrYsKFuvfXWC5EnAAAAAAAAAACoQyr9C4yMjAxFRERIkvz9/eXp6anAwEBJkp+fn86cOVO9GQIAAAAAAAAAgDqn0r/AkCSj0bbuYTAYqiUZAAAAwJEjqUeVlplWozkE+gaqQVD9Gs0BAAAAAOqSKhUwbr75ZmvRIjc3V7feequMRqPMZnO1JgcAAAAcST2qLpNuVG5+Xo3m4WFy19bn1lPEAAAAAICLpNIFjIEDB16IPAAAAACH0jLTlJufp6uvv0q+/j41kkNmepZ2ffOj0jLTKGAAAAAAwEVS6QLGc889dyHyAAAAAMrl6+8j/yD/mk4DAAAAAHCRVOkSUpL0448/6rffftOZM2fk6+urtm3bqk2bNtWZGwAAAAAAAAAAqKOMFa9iKy0tTUOGDNHw4cP19NNPa86cOZo+fbr+8Y9/aNSoUTpz5syFyBMAAAAAANQyycnJuuqqq/TZZ59VuLy4uFhvv/22rrnmGv38888261vaWrdura1bt9q0/fDDDxo0aJB69uypwYMH648//rhwHQIAANWq0gWMF198UWlpaXrllVf0zTffaPfu3dq6datmz56tAwcOaM6cORciTwAAAAAAUMtMmzZN/v7+57R8woQJOnr0qAICAuzWt7QFBgbaLE9LS9O9996rCRMmaOPGjRo1apTGjx8vs9lcnd0AAAAXSKULGFu3btVTTz2lXr16KSQkRJ6engoNDVXfvn01bdo0rVu37kLkCQAAAAAAapHly5fL1dVVsbGx57R8+PDheuqpp+Tqan81bEubm5ubzfLdu3crNDRUHTp0kCTddNNNysnJ0e+//17NvQEAABdCpQsYp0+fVpMmTRy2xcTEKC0t7XxzAgAAAAAAtVhqaqrmzp2radOmndNySbrqqqvKjFdWm8FgUFFRkc0yb29vJSQkVD5pAABw0VW6gBEaGqrdu3c7bNuzZ49CQ0PPOykAAAAAAFB7zZgxQ6NHj1ZYWNg5La+qdu3a6eTJk1q7dq0kae3atUpKSlJeXl61xAcAABeW/e8uK9CvXz/NmDFDJ0+e1NVXXy0fHx9lZWVpx44deueddxQfH38h8gQAAAAAALXAhg0bdPLkSbvPD8pafj4CAgL02muvafbs2ZozZ466d++u1q1by8/Pr9qeAwAAXDiVLmDcd999SklJ0Ysvvmiz3GAwaODAgRo/fny1JQcAAAAAAGqXNWvWKCEhQT179pQknTp1Sps2bVLnzp0dLk9KSjqvzxo6dOigZcuWSZIKCwt1/fXXq2XLluffEQAAcMFVuoBhMpn0wgsv6OGHH9avv/6qrKws1atXT23atFFwcPCFyBEAAAAAANQSs2bNsnk8ceJExcbGatCgQee0vDKys7M1cOBAvfHGG4qOjtbChQvVpk0bhYeHVzkmAAC4eCpdwLjjjjv02muvKSwsrNquSQkAAAAAAFCWrKwsDRkyRJJ04sQJzZs3T0uWLNEjjzyiDh06WNtSUlI0depUeXp66uGHH9aNN96osWPHasyYMTKbzWrWrJmef/75muwKAACohEoXMP773/+qoKDgQuQCAAAAAADqmLIKCiWX+/j4aM2aNZLO/qrif//7n1q1aiUvLy9JsrY5MmjQoPP6FQcAAKg5lS5gSFJBQYHy8/PLbDeZTFVOCAAAAAAAAAAAoEoFjO7du5fZZjAY9Ntvv1U5IQAAAAAAAAAAgCoVMEaOHClvb+/qzgUAAAAAAAAAAEBSFQoYBoNBd955p4KCgi5EPgAAAAAAAAAAADJWdgOz2Xwh8gAAAAAAAAAAALCq9C8wFi5cKD8/vwuRCwAAAAAAqOWOpB5VWmZalbfPzc3VoeOHVOxtloeHR5ViBPoGqkFQ/SrnAAAALo5KFzDy8/P1ww8/lLtO586dq5wQAAAAAAConY6kHlWXSTcqNz+vRvPwMLlr63PrKWIAAODkKl3AuPPOO2UwGKyXkjIYDNY2s9ksg8Gg//3vf9WXIQAAAAAAqBXSMtOUm5+ntp2ulI+fT43kkHU6S3u++0lpmWkUMAAAcHJVuoSUhdls1pgxY/T0008rLCysWhMDAAAAAAC1k4+fj/yCuDw1AAAoX6ULGLGxsTaPjUajrrzySkVGRlZbUgAAAAAAAAAAoG4z1nQCAAAAAAAAAAAApVHAAAAAAAAAAAAATqfSl5Dq3LmzzePc3FzdeuutMhrP1kIMBoO++eab6skOAAAAAAAAAADUSVUqYBgMhguRCwAAAAAAAAAAgKQqFDCef/75C5EHAAAAAAAAAACAVaULGBY//fSTfv31V504cUIjR46Uv7+/jh8/rtDQ0OrMDwAAAAAAAAAA1EGVLmBkZmbqvvvu0/bt22U2m2UwGDR48GClpqbq1ltv1YcffqgWLVpciFwBAAAAAAAAAEAdYazsBi+++KIOHz6suXPnaufOnfLw8JAkRUVFqUePHpozZ061JwkAAAAAAAAAAOqWShcwNm7cqOnTp+uGG26Qj4/P34GMRo0aNUo7d+6s1gQBAAAAAAAAAEDdU+kCRnZ2tho3buywzcvLS3l5eeedFAAAAAAAAAAAqNsqXcBo3Lix1q5d67Bt69atatSo0XknBQAAAAAAAAAA6rZK38R7wIABmjlzpg4cOKBOnTrJbDZr69atSkxM1EcffaRHH330QuQJAAAAAAAAAADqkEoXMEaOHKns7Gy99957+vzzzyVJM2bMUL169XTPPfdo+PDh1Z4kAAAAAAAAAACoWypdwJCkcePGacyYMTpw4ICysrLk5+enqKgoubi4VHd+AAAAAAAAAACgDqpSAUOSXF1d1aJFi+rMBQAAAAAAAAAAQFIVChg9e/ascJ2NGzdWKRkAAAAAAAAAAACpCgWMjIwMnTlzRr1791Z0dPSFyAkAAAAAAAAAANRxlS5grF+/Xq+99pqWLVumoKAg3XffffLz87sQuQEAAAAAAAAAgDrKWNkN/P39NWXKFH3xxRdKSUlR79699cEHH6i4uPhC5AcAAAAAAAAAAOqgShcwLJo0aaK5c+fqtdde01dffaWbbrpJW7durc7cAAAAAAAAAABAHVXpS0jt2LHDbtkjjzyiFStWaNy4cerQoYPmzZtXLckBAAAAAAAAAIC6qdIFjBEjRshgMMhsNluXlXz87bffVl92AAAAAAAAAACgTqp0AWPjxo0XIg8AAAAAAAAAAACrShcwGjRocCHyAAAAAAAAAAAAsKp0AeOll14qt91gMOjBBx+sckIAAAAAAAAAAACVLmC888475bZTwAAAAAAAAAAAAOer0gUMSfruu+8UFBRU3bkAAAAAAAAAAABIkow1nQAAAAAAAAAAAEBplS5gGAwGGQyGC5ELAAAAAAAAAACApCpcQspsNmvAgAFq3LixGjdurKioKDVv3lxt27aVv7//eSVz6NAhDRw4UHFxcXr++eclSd9//71effVV7d+/X76+vurcubMmTZokLy8vSVJOTo5mzpyprVu3Kj09Xc2aNdO9996rLl26WONWRwwAAAAAAAAAAHDxVPoXGFOmTFGfPn3k4+Ojn376SS+//LLGjBmjjh07avTo0Tpw4ECVEikqKtLEiRPl6vp3TSUhIUFjx45Vr169tHXrVi1cuFC//vqrpk2bZl1n+vTp2rFjh+bNm6dt27Zp0KBBGjdunDWP6ogBAAAAAAAAAAAurkoXMG6//XZNmjRJb775plasWKGff/5Za9as0dNPP63MzEw9+OCDVUrknXfeUWFhobp3725dtmTJEkVGRupf//qXvLy8FBkZqXHjxmnlypVKTU3V6dOn9dVXX+mee+5RdHS03N3dFR8fr2bNmmnx4sXVFgMAAAAAAAAAAFxclb6EVGlGo1FNmjRRkyZN1L59ew0YMKDSMf73v/9p3rx5+uSTT/Tuu+9al//000+64oorbNZt27atioqKtHfvXplMJhUUFOjKK6+0W+enn36qthgAAAAAAAAAAODiqnQBY8uWLeratavDtkaNGmny5MmVipefn69HH31Ud911l5o1a2bTlpaWZldYCAgIkCSlpqbK3d1dkuTn52e3TlpaWrXFKC93FxcX62Oj0Sg3NzcVFxeroKDAbn3Lc+Xn58tsNtu0ubq6ysXFRUVFRSosLLRpMxgMMplMMpvNys/Pt4trMplkMBhUUFCg4uJimzYXFxe5urqWG1eS8vLy7OK6ubnJaDSWG7eivpYXt7CwUEVFRTZt1TGG5cWtaAyr+tpU1NfKjuG5xi3d15J9u9TG8FLcvx319ULv37VtDJ1pjrAoPbdLtWeOsPT1UpxnL8X9uy7NEZa8Sh471TlH5DtYp6bkFxTY7TMlx8HZlM7VWcey5BzhTDlKjl9zNze3GsrGsZJjVnKOcKaxLD2OJecIZ8pTcjzPFpWax2qSZSwdzbPONJalX3PreUSp//9qkuVl5jyidp6L1ZXz5Ir6ajNH/P/zW3Lkvcalu38zR1zcOeJS/rytor7W1OcRjvpalkoXMO666y717dtXkydPVmBgoHX5b7/9pqeeekp79uzR4MGDzzneK6+8Ik9PT40ePbqyqdS4lJQUmzfqvr6+CgsLU1FRkRITE+3WtxRojh8/rtzcXJu2sLAw+fr6KisrSydOnLBp8/LyUv369WU2mx3GjYqKkouLi06ePKkzZ87YtAUHB8vf3185OTk6duyYTZu7u7siIyMlSUlJSXYHQaNGjWQymXTq1CllZGTYtAUEBCgoKEh5eXk6cuSITZurq6uaNGkiSUpOTrY7gBo0aCBPT0+dPn1ap06dsmmrV6+eQkNDVVhYaNdXg8Gg6OhoSWfHvvRBEh4eLh8fH2VlZenkyZM2bd7e3oqIiFBxcbHDMWzatKkMBoNOnjyp7Oxsm7aQkBD5+fkpOztbKSkpNm0eHh5q2LChJDmM27hxYxmNRqWlpSkzM9OmLTAwUIGBgcrNzdXRo0dt2tzc3NS4cWNJ0tGjR+0O+IYNG8rDw0Pp6elKT0+3Li+5XkFBgV1ORqNRTZs2lSQdO3bMbrKIiIiQt7e3MjMzlZqaatPm4+Oj8PDwMvdvy2tz4sQJ5eTk2LSFhoaqXr16OnPmjI4fP27T5unpqQYNGkhyPIZNmjSRq6urUlNTlZWVZdMWFBSkgIAA5ebmKjk52abNZDKpUaNGkqQjR47YTcaRkZFyd3dXenq6Tp8+bdPm7++v4OBg5efnKykpyabNxcVFUVFRks7u36Un8vr168vLy0sZGRl2RVDmiLOcdY6wFLJLz+1S7ZkjpLMF+5CQEOYI5gir6pgjJPtjpzrniJRSz12TUo4dk5/B12aZ5bhxRqXnCGcdy5JzhDPlKJ095hJLveYl931nkHLsmNT87L9LzhHONJalj52Sc4Qz5Sk5Po/IK7B/g15TLGPp6DzCmcay9GtuOY/IPpNdzlYXV1Hx2fmR8wjea0h14/MIyzlBVlaWfH19ea/Bew0r5oizypojSh4HtXmOsLgYn0eUzrc8lS5gfPzxx3r66afVp08fTZ06VV26dNFLL72kTz75RG3bttVHH310zrF27dqlxYsXa9myZXYfFklnd+TSHbXsPMHBwdZqT3p6ury9vW3WCQ4OrrYYZQkLC5Onp6f1seUbvC4uLuW+qQkNDXVYMZPOTsoeHh42bQaDwfq3o7iW5w0ODrYpKllykc5OyqW3tcSVZN2hHeUUEBBg9wsVS9zSH16UFhERYbfM8o01Pz8/+fj4OOyLq6truXHDwsLKHcOSr0vJuEaj0WFcy1gEBweXGddyDxVH20mO38haxikwMFD+/v4O2zw8PMqNW79+fbu4ljH09/eXr+/fbwpycnKs/6m6ubmVO4bh4eFl9tXX11deXl42bee6f4eEhJQZ19vbu8pjaDk5cNRW0RhaTkhKKjmG9erVcxjXZDJVuH87+saDdPbkt+ScIjFHOOJMc4Tl5K/03C7VnjlC+nsMmSOYI0o/7/nMEZL9sVOdc8Rpc2aZ61xsYeHhFY6FMyk9Rzj7WIaEhCgsO7yGMnIsNDTULk9n+wVGWPjfY1ZyjnDm17vkHFEyf2fg6Dwi64jzfOhuGUtH5xGXwmvu5e1V1iYXnYuR8wip5s8j6sJ7DcvfNf15hOUzA0vfea/Be43SmCMczxElP2+rzXNE6bYLOUeEhYXZFQbLUukCxhVXXKGlS5dq6dKlevLJJ2U2m+Xn56dZs2apb9++lYq1bNkyFRQUaNiwYdZllkrSpk2b9I9//EMbN2602WbXrl1ydXXV5ZdfLjc3N5lMJv388882E8KPP/6ojh07SpLatWt33jHKYjKZrD8PKsloNDpcXnK7sri4uDgs5khnd5Dy4pb3Rqq8uJKqHLeivpbX5urqaj3QKhu3vDEsL25FY1jV10ZyjjEsWfW81MbwUty/qzqGzBHnFvdizxGWAkZZc3tFcRnDs5gj/laX5ghLXo7iV8f+bXKiD4tNbm7l5uxsSufq7GNpMpmcKkfp0njNS45ZyTnCmcayrHF0c3Nzqjwlx/OsS4nLTda00mNZcp51prEs6zV3reD/k4vJ8hkM5xFn1bZzsbpyniyd+xhaPjOwxGIMzy2uM+7fzBEVx+Xztr85wxiWjluZy/BW+SzsH//4hxYvXqycnBwtW7as0sULSZo4caI2bNig5cuXW//06NFDPXr00PLlyxUfH6/k5GTNnz9fOTk5OnjwoObOnasBAwYoMDBQvr6+Gjx4sF577TUdPHhQOTk5mj9/vg4fPqzhw4dLUrXEAAAAAAAAAAAAF1elf4HRuXNnm8fFxcW66aabrD8BMRgM+uabb84plp+fn93PfCw/own//58Rz5s3Ty+88IJefvll+fr6ql+/fpowYYJ1/ccff1wvvPCCbr/9dmVmZqpVq1aaP3++9VpcDRs2PO8YAAAAAAAAAADg4qpSAeNCXuf3+eeft3l8zTXXaOnSpWWubzKZNGXKFE2ZMqXMdaojBgAAAAAAqDtWrFiht99+WwUFBfLy8tKECROUmJio9957z2a9pKQkvf/++2rfvr0SEhI0adIkpaSkyNPTU5MmTbJ+EXTVqlV68803debMGUVGRmrmzJnWL29a/PLLLxo6dKgWLFiga6+99qL1FQAAZ1XpAkbpAgMAAAAAAEBtcuDAAc2YMUPLli1TZGSk1q1bp/Hjx+u7777T0KFDrevt3r1bTz75pK688koVFxfrnnvu0T//+U8NHTpU27Zt06JFi9S5c2f9+eefmjx5sj755BM1b95cb7/9tiZPnqz58+dbYxUUFOiJJ55QaGhoTXQZAACn5Dx3IgMAAAAAAHACXl5emjNnjiIjIyVJHTt2VEZGhlJTU63rFBUVadq0aZoyZYpcXV31448/KicnR//4xz8kSR06dNAbb7whSdq2bZvat2+v5s2bS5JGjRql7du36/Tp09Z48+bN09VXX219TgAAQAEDAAAAAADARkREhDp27Cjp7L0/lyxZotatW9tc8mnFihUKCQnRNddcI0nat2+fIiMj9dRTT6l37966/fbbtWfPHkln7xdaXFxs3dbNzU1ubm46fPiwpLO/+Fi+fLkefPDBi9VFAAAuCRQwAAAAAAAAHPjggw/UsWNHLVu2TC+88ILNPUHfeecdjR071vo4IyNDu3fvVlxcnNasWaN+/fpp3Lhxys3NVceOHbVz507t3r1bZrNZ//nPf1RQUKC8vDwVFxdr8uTJmjx5sry8vGqimwAAOC0KGAAAAAAAAA7cfvvt2rZtmx599FENHz5cKSkpks7ebDsrK0uxsbHWdf38/BQVFaXrrrtOBoNB8fHxysnJ0R9//KHo6Gg9++yzevLJJ3XLLbeooKBAISEh8vPz08KFC9WoUSN16dKlproJAIDTooABAAAAAABQwr59+7Rt2zZJZy//1L17dwUFBWn37t2SpA0bNqhbt24220RGRv4fe/ceH0V1/3/8vdfc74QESBQIUPxxUQHFUDGi5SZWEZRSggrFgoZLKQiKEhApcik2LSAFU2yLijeqXyoqKGjRKl7AIGgNKIgmkASSEJKQ2yab3x/pbrPJJhBMsgu8no+HD8mcmbOfObNzZuZ8dmZUXFzs/NtgMMhoNMpkMkmSRowYoS1btuj111/XnXfeqaKiIl1++eV655139PHHH+umm27STTfdpH379mnWrFl6+eWXW2dlAQDwYubzWejrr7/Wpk2b9NVXX+nMmTMKDg5W7969NX78eHXq1Km5YwQAAAAAAGg12dnZSk5O1ubNmxUVFaWDBw8qKytL3bt3lySlpaXpZz/7mcsyAwYMUGVlpbZt26Zhw4bpzTffVEBAgLp27arMzEz9+te/1rPPPqs2bdroqaee0q233iqr1arnn3/epZ67775b06ZNU//+/VttfQEA8FZNTmB89NFHmjx5sgICAtSzZ0/nLwy2bt2qV199VRs3blSvXr1aIlYAAAAAAIAWd+ONN2rSpEkaN26czGazTCaTFi5cqI4dO0qqSXBERka6LGM2m7V69WolJydr5cqVCgsL06pVq2S1WhUTE6ORI0fqrrvukiT17dtXixcvbu3VAgDggtPkBMaaNWs0ePBgrVixQhaLxTm9vLxcv/3tb5WSkqJnnnmmWYMEAAAAAABoTRMmTNCECRPclm3fvt3t9N69e2vLli1uy6ZMmeLy0u+GPPvss+ccIwAAF7smvwPj66+/VlJSkkvyQpJ8fHw0ffp07du3r7liAwAAAAAAAAAAl6gmJzDsdrsMBoPbMh8fH9nt9h8dFAAAAAAAAAAAuLQ1OYHRvXt3Pffcc27LNm7cqG7duv3ooAAAAAAAAAAAwKWtye/AuP/++5WUlKS9e/eqT58+CgoKUlFRkT7//HMdOXJEa9eubYk4AQAAAAAAAADAJaTJCYxBgwZpw4YN2rBhg7Zt26bi4mIFBQXpyiuv1IIFC3TNNde0RJwAAAAAAAAAAOAS0uQEhiQNGDBAAwYMaO5YAAAAAAAAvMKxvOPKL8r3aAzhQeHqENHeozEAAOBJ55XA2L9/v44ePar+/fsrKipKO3fu1HvvvaeePXtq7NixzR0jAAAAAABAqzmWd1w3zBussopyj8bha/XR+0vfIYkBALhkNTmB8frrr2vu3Lmqrq5WYGCgli9frunTpyskJESvvvqqiouLdd9997VErAAAAAAAAC0uvyhfZRXl6hHfW/4hAR6JoeT0GX21e7/yi/JJYAAALllNTmD85S9/0bhx4zRu3Djt3LlTjzzyiB588EH96le/0quvvqp169aRwAAAAAAAABc8/5AABYeHeDoMAAAuWcamLnD06FFNnDhRcXFxuu+++1RcXKyBAwdKqnk3RlZWVrMHCQAAAAAAAAAALi1NTmCUl5fLz8+vZmGjUVarVb6+vpIks9msysrK5o0QAAAAAAAAAABccs7rJd6ffPKJgoODJUnV1dXau3evvv/+exUWFjZrcAAAAAAAAAAA4NJ0XgmM2bNnq7q62vn3ww8/LIPBoOrqahkMhmYLDgAAAAAAAAAAXJqanMDYuHFjS8QBAAAAAAAAAADg1OQExvHjx3XLLbfIarW2RDwAAAAAAAAAAABNf4n3vHnzVFRU1BKxAAAAAAAAAAAASDqPBAbvuQAAAAAAAAAAAC3tvF7ivWDBAvn4+DRY/uSTT553QAAAAAAAADg3W7du1fr162Wz2eTv7685c+YoPj7eWf7ll19qzJgx+utf/6r+/ftLko4ePap58+YpJydHfn5+mjdvnq6//npJ0t/+9je99NJLqq6uVlhYmBYsWKArrrjC5TN37NihqVOnaufOnYqJiWm9lQUAXHLOK4Hx5Zdfymh0f/MGd2cAAAAAAAC0vMOHD2vx4sXavHmzYmNj9fbbb2vGjBn68MMPZbVaZbPZtGDBArVt29a5jN1u19SpU3XvvfdqzJgx2r17t5599lldf/31+ve//61nn31WmzdvVlhYmP7617/qwQcf1BtvvOFcvqioSE8++aRCQ0M9sMYAgEtNkxMYBoNB//jHPxQREdES8QAAAAAAAOAc+Pv7KyUlRbGxsZKkAQMGqLCwUHl5eWrXrp1SU1PVt29fpaenO5f5/PPPVVpaqrvuukuSFB8f77xjo127dlq5cqXCwsKc9a1cudLlceLLli3TL37xC23cuLE1VxUAcIk6r3dgAAAAAAAAwLPatWunAQMGSKq5s+Kll15Sjx49FB0drcOHD2vLli367W9/67JMenq6YmNjtWjRIg0dOlTjx4/X/v37JUlxcXG6+uqrJUk2m02vvPKKBg0a5Exe7N69W998843uueeeVlxLAMClrMkJjDvuuKPR918AAAAAAACg9Tz33HMaMGCANm/erBUrVqi6ulqPPvqoHn30Ufn7+7vMW1hYqLS0NA0bNkzbtm3TiBEjlJSUpLKyMuc8Tz75pOLj43XgwAEtWLBAklRSUqJFixZp8eLFDT5WHACA5tbkI87SpUuVmZmpnTt3ukx//vnn9fXXXzdbYAAAAAAAADi78ePHa/fu3Zo7d64SExP19NNP67LLLtMNN9xQb96QkBB16tRJ1113nQwGg8aOHavS0lIdOnTIOc/s2bP1ySef6I477nCWp6SkaPjw4frJT37SmqsGALjENTmB8dFHH+muu+7SO++84zL9gw8+cL78CQAAAAAAAC0rPT3dOQ5jMBg0aNAgRURE6J///Kc+/vhj3XTTTbrpppu0b98+zZo1Sy+//LJiY2NVXFzsrMNgMMhoNMpkMmnv3r3Ox0mZTCaNHTtW+fn5+vbbb7Vz50699tprzjqzs7M1btw47dq1yyPrDgC4NDT5Jd6rVq3SL37xCz3yyCMu09etW6fly5frj3/8o/PlTwAAAAAAAGgZ2dnZSk5O1ubNmxUVFaWDBw8qKytLr732mjp27Oic7+6779a0adPUv39/VVZWqrKyUtu2bdOwYcP05ptvKiAgQF27dtUrr7yil19+Wc8++6yCg4P14YcfymAwqFOnTnr33XddPvumm27Sxo0bFRMT08prDQC4lDQ5gXHw4EH9/ve/d/u8w3HjxunFF19slsAAAAAAAADQsBtvvFGTJk3SuHHjZDabZTKZtHDhQpfkRV1ms1mrV69WcnKyVq5cqbCwMK1atUpWq1W//OUvlZOTo9tvv11Wq1V+fn7605/+pMDAwNZbKQAAamlyAiMgIEBZWVmKjY2tV5aVlVXv5VAAAAAAAABoGRMmTNCECRManefZZ591+bt3797asmVLvfmMRqNmzZqlWbNmnfVz696RAQBAS2jyOzB+9rOfKTk5We+++65yc3NVWlqqnJwcvf7663rwwQd18803t0ScAAAAAAAAAADgEtLkOzAefPBB/eY3v1FSUpIMBoNzenV1tfr376+5c+c2a4AAAAAAAAAAAODS0+QERmBgoDZs2KAvv/xS+/fvV3FxscLDw9WtWzf17t27JWIEAAAAAAAAAACXmCYnMBx69uypnj17qrKyUiaTyeVuDAAAAAAAAAAAgB+jye/AkKRPP/1UkyZNUnx8vHr37q3MzEydOXNGy5cvV3V1dXPHCAAAAAAAAAAALjFNTmC89957mjBhgvLz83X77bfLbK65iaOgoEBbtmxRampqswcJAAAAAAAAAAAuLU1+hNSaNWt09913a968eZKkl156SZLUoUMHzZ8/X3/84x81efLk5o0SAAAAAAAALo7lHVd+Ub5HYwgPCleHiPYejQEAcPFqcgLj22+/1e9//3u3ZVdeeaWOHz/+o4MCAAAAAABAw47lHdfAeYNVXlHu0Th8rD76YOk7JDEAAC2iyQmM0NBQnT592m1ZTk6OAgICfnRQAAAAAAAAaFh+Ub7KK8rVrX8P+Qd7ZiympPCMDn3ylfKL8klgAABaRJMTGL1799bixYu1atUqxcTEOKfn5+crJSVF1113XbMGCAAAAAAAAPf8gwMUGBbs6TAAAGgRTU5gzJ49W4mJiRoyZIhiY2NVXl6u++67T9nZ2QoJCdETTzzREnECAAAAAAAAAIBLSJMTGB07dtQbb7yhl19+WQcOHFD79u0VHByssWPHatSoUQoJCWmJOAEAAAAAAAAAwCWkyQkMqeY9GJMnT27uWAAAAAAAAAAAACSdRwLj3//+91nnuf76688rGAAAAAAAAAAAAOk8Ehj33XefDAaDqqurJUkGg8FZVl1dLYPBoK+//rr5IgQAAAAAAAAAAJecJicwNm7c6PL3l19+qd27d+vXv/51swUFAAAAAAAAAAAubU1OYFx77bUuf/+///f/9Pe//73edAAAAAAAAAAAgPNl/LEVBAQEKC8vT/n5+c0RDwAAAAAAAAAAwI97ibfdbtdHH32kqqoqWa3WZg0MAAAAAAAAAABcuprlJd4TJ05UYGBgswcHAAAAAAAAAAAuTT/qJd4mk0kxMTGKiopq1qAAAAAAAAAAAMCl7Ue/xBsAAAAAAAAAAKC5NTmBMW/evLPOs3Tp0vMKBgAAAAAAAAAAQDqPBMZrr70mo9Go3r17y2KxtERMAAAAAAAAAADgEtfkBMZf//pXLV++XHl5eZozZ46GDBnSEnEBAAAAAAAAAIBLmLGpC8THx+u1117TAw88oCVLlujuu+9Wenp6S8QGAAAAAAAAAAAuUU1OYEiSwWDQqFGjtH37dsXHx+vuu+/W/PnzlZeX19zxAQAAAAAAAACAS9B5JTAcfH19lZSUpG3btslkMumWW25Rampqc8UGAAAAAAAAAAAuUU1+B0b37t1lMBjqTa+urpYk/eEPf9Cvf/3rHx8ZAAAAAAAAAAC4ZDU5gfHEE0+4TWAAAAAAAAAAAAA0lyYnMEaNGtUScQAAAAAAAAAAADg1OYHx73//+6zzXH/99ecVDAAAAAAAAAAAgHQeCYz77rtPBoPB+c4LB8c0g8Ggr7/+utkCBAAAAAAAAAAAl54mJzAkadWqVQoJCWnuWAAAAAAAAHCR+fTTT7Vy5UoVFhbKYDBo2rRpGjFihD7++GOtWLFCp0+fVmhoqJYuXapu3bpJUqNlDdW3a9cuLV261OWzs7Oz9dhjj2nkyJGtvdoAgGZwXgmMPn36KCIiorljAQAAAAAAwEWkuLhYU6dO1apVqxQfH68DBw4oMTFR/fv317Rp07R69WrFx8dr69atmjFjht566y2dOnWqwbIzZ840WF9CQoISEhKcn52RkaEJEyboZz/7mQdbAADwYxjPZyGDwdDccQAAAAAAAOAiU1VVpSVLlig+Pl6S1KtXLwUGBurFF19U27ZtndNvvfVWlZaW6uDBg0pLS2uwrKH6jh49Wu+zFy9erOnTpyswMLB1VhYA0OzO6w6MRYsWqUuXLrr88svVqVMnde3aVb6+vs0dGwAAAAAAAC5gISEhGjJkiPPvtLQ0lZWVKSYmRlVVVS7zBgQE6OjRo7JarQ2Wde/e3W19jsdLOezdu1cZGRm67bbbWmCtAACtpcl3YAwePFg//PCD/va3v2nu3LkaM2aM+vTpo9tvv11PP/20SktLWyJOAAAAAAAAXMC+//57zZo1SwsWLFBCQoJyc3O1fft2SdL27duVmZmp8vJyXX311Q2WNVRfcHCwS9m6des0efJkGY3n9fARAICXaPIdGKtXr3b+Oz8/X999950OHz6stLQ0paam6vPPP9e6deuaNUgAAAAAAABcuPbv36+pU6dq5syZzhdqr1mzRk8++aRSUlI0aNAg9ejRQyEhIQoLC2uwrLH6HPLy8vTZZ5/pT3/6UyuuIQCgJZzXI6QcwsPDFR4err59+2rMmDFKTExUYmJic8UGAAAAAACAC1x6erqSkpK0ZMkSl5dsx8fHa/PmzZKkyspKDRw4UN27dz9rWUP1Obz77rvq16+f/P39W3rVAAAt7Lzvo7PZbDp06JDS0tJ0+PBhVVVVqVu3bnr22WebMz4AAAC0sE8//VRjxozRsGHDNHz4cL3xxhuSpI8//lijRo3SzTffrNGjR+vQoUPOZex2u9avX69rrrlGX3zxhXP6rl27NGzYMJf/rrrqKv3f//1fo2UAAODiVFlZqVmzZik5Odkl2VBSUqKhQ4fq8OHDkqSNGzeqZ8+eio6ObrSsofpqS0tLU5cuXVp+5QAALa7Jd2BUVVVp5cqVevHFF1VWVuacHhgYqF/96ld64IEHmjVAAAAAtJzi4mJNnTpVq1atUnx8vA4cOKDExET1799f06ZN0+rVqxUfH6+tW7dqxowZeuutt2QwGDRnzhwFBgYqLCzMpb6EhASXwYSMjAxNmDBBP/vZzxQYGNhgGQAAuDh9+OGHOnLkiFJSUpSSkuKcnpSUpClTpmjy5Mmqrq5Wly5dtGzZMkmSv79/g2WN1ed4YXdOTo7i4uJacS0BAC2lyQmMtWvX6vnnn9eYMWN09dVXKzAwUEVFRdqzZ4+eeuopBQQE6J577mmJWAEAANDMqqqqtGTJEsXHx0uSevXqpcDAQL344otq27atc/qtt96q3//+9zp48KC6d++uxMRE9enTR7t27Wq0/sWLF2v69OkKDAxsUhkAALg4JCQkKD09vcHyUaNGNTjdXdnZ6pOkDRs2NC1IAIDXanIC45///Kfmz5+vMWPGuEy/9dZbFRcXp02bNpHAAAAAuECEhIRoyJAhzr/T0tJUVlammJgYVVVVucwbEBCgo0ePqnv37urTp89Z6967d68yMjKcv4Y81zIAAAAAAKTzeAdGVlaW85d4dd14443KzMxsUn2HDx/WtGnTdN111+nqq6/Wz3/+c7388svO8o8++khjx45Vv379NGjQICUnJ6ukpMRZXlpaqscee0w33XST+vTpozFjxuj99993+YzmqAMAAOBi9/3332vWrFlasGCBEhISlJubq+3bt0uStm/frszMTJWXl59zfevWrdPkyZNlNNY/5WysDAAAAAAA6TwSGEFBQTp27JjbsuzsbAUEBJxzXeXl5br33nsVGhqq7du369NPP9WECROUnJysXbt26ejRo5oyZYqGDBmi999/Xxs3btRXX32lhQsXOut4/PHH9dlnnyk1NVW7d+/WqFGjlJSU5HzRU3PUAQAAcLHbv3+/xo8fr2nTpmnkyJEKCwvTmjVrlJqaqmHDhmnfvn3q0aOHQkJCzqm+vLw8ffbZZxo6dGiTygAAAAAAcGhyAmPAgAH63e9+py+//NJl+v79+/X444/rpz/96TnXVVJSot/85jd66KGHFBISIovFotGjRys4OFj/+c9/9NJLLyk2Nla/+tWv5O/vr9jYWCUlJemNN95QXl6eTp8+rddff11Tp05VXFycfHx8NHbsWHXp0kWbNm2SpGapAwAA4GKWnp6upKQk/e53v9Po0aOd0+Pj47V582Zt27ZNs2fPdj4+6ly8++676tevn/z9/ZtUBgAAAACAQ5MTGHPnzpXNZtNdd92lq666Sj/96U911VVX6Re/+IXsdrsefvjhc64rLCxMd911l4KCgiRJRUVF2rBhg+x2uwYPHqx9+/bpyiuvdFmmd+/eqqqq0oEDB/TVV1/JZrPpqquuqjfPvn37JKlZ6gAAALhYVVZWatasWUpOTlZCQoJzeklJiYYOHeq8I3Xjxo3q2bOnoqOjz6netLQ0denSpcllAAAAAAA4NPkl3lFRUXr99df19ttv68svv1RxcbGCgoJ05ZVX6uabb5bFYjmvQAYMGKC8vDx17txZTz/9tLp06aL8/Px6iYWwsDBJNY8e8PHxkaR6jzIICwtTfn6+JDVLHQ2pqKiQyWRy/m00GmWxWGS322Wz2erN7/isiooKVVdXu5SZzWaZTCZVVVWpsrLSpcxgMMhqtaq6uloVFRX16rVarTIYDLLZbLLb7S5lJpNJZrO50XoluX2etcVikdFobLTes61rY/VWVlbWezloc7RhY/WerQ3Pd9ucbV2b2obnWm/dda29bhdaG16I329369rS3++LrQ29qY9wqNu3SxdPH+FY1wuxn70Qv98XSh/x8ccf68iRI0pJSdEf/vAH5/QpU6bovvvu0+TJk2W32xUXF6fHH39c5eXlOnPmjH75y1/KYDDo5MmTSk1N1YsvvqiZM2fq5ptvllTzaNG4uDi3bZiVlaW4uLhz7iMq3MzjKRU2W73vjOO75I3qxuqtbVm7j/CmGCX32/x8r3laSu02q91HeFNb1m3H2v2sN8Upue9nq+r0Y57kaEt3xypvasu629x5HlHn+OdJjs3s7ljlTXHW3eaO8whv2t6VlZX1+sra52Lfn/hBp4oLnGUGGWSx1AxJuVsPs9kso8GgyspK2evsj0ajUWaTSfbq6nrnPZJk/W8fXbfesMBQdYy6/KI7T5bO/XzW8fmOGLnW4FrjXOq9WNvwUhlvO9u6emo8wt26NuScEhgVFRUuF2ZWq1W33nqrbr311nrzfvzxx7ruuuvOOQCHjz76SIWFhXrttdd03333ad26dU2uo7Xl5OS4DHIFBQUpKipKVVVVysjIqDe/45eGJ06cUFlZmUtZVFSUgoKCVFxcrJMnT7qU+fv7q3379qqurnZbb6dOnWQymZSbm6szZ864lLVp00ahoaEqLS1Vdna2S5mPj49iY2MlSZmZmfV2gssuu0xWq1WnTp1SYWGhS1lYWJgiIiJUXl5e750oZrNZHTt2lFQzQFF3B+rQoYP8/Px0+vRpnTp1yqUsODhYbdu2VWVlZb11NRgMiouLk1TT9nV3kujoaAUGBqq4uFi5ubkuZQEBAWrXrp3sdrvbNuzcubMMBoNyc3NdXvAuSZGRkQoJCVFJSYlycnJcynx9fRUTEyNJbuu9/PKak6P8/HwVFRW5lIWHhys8PFxlZWU6fvy4S5nFYtHll18uSTp+/Hi9HT4mJka+vr4qKChQQUGBc3rt+Ww2W72YjEajOnfuLKlmYKluZ9GuXTsFBASoqKhIeXl5LmWBgYGKjo5u8Pvt2DYnT55UaWmpS1nbtm0VHBysM2fO6MSJEy5lfn5+6tChgyT3bdixY0eZzWbl5eWpuLjYpSwiIkJhYWEqKytTVlaWS5nVatVll10mSTp27Fi9zjg2NlY+Pj4qKCjQ6dOnXcpCQ0PVpk0bVVRUKDMz06XMZDKpU6dOkmq+33U78vbt28vf31+FhYX1kqD0ETW8tY9wJLLr9u3SxdNHSDUJ+8jISPoI+gin66+/Xunp6crKynLbR9x1110qLi5Wdna2SkpKnPvAX/7yF8XGxqqkpERff/21AgMDZTKZnJ+xbt06Wa1WnThxol4fsXLlSkVERKi0tPSc+oicOv2TJ+VkZyvEEOQyzbHfeKO6fYS3tmXtPsKbYpRq9rmMOtvccXz0FjnZ2VLXmn/X7iO8qS3r7ju1zyO8KU7J/XlEua3+BbqnONrS3XmEN7Vl3W3uOI8oOVPSyFKtq8pe0z+6O4+oe87nSY62rHse4U3bu6CgQBlyPc9wXGscPnZEQx+/XRWV5z5Y1RKsZqt2LNqquA6dL9nxCMc5gePHyFxrcK3hwHhEjYbGI2rvBxdzH+HQGuMRdeNtzDklMO644w4tXbpUvXv3bnCeU6dOaenSpXr99df19ddfn3MAtQUHB+vee+/V7t279de//lVt2rSpt6KOL0+bNm2cSZWCggKXl4efOnVKbdq0cc73Y+toSFRUlPz8/Jx/O37BazKZGr2oadu2rduMmVTTKfv6+rqUGQwG5//d1ev43DZt2ig8PNylzDEI5+fnV29ZR72SnF9odzGFhYXVu0PFUW/tDsWddu3a1Zvm+MVaSEiIAgMD3a6L2WxutN6oqKhG27D2dqldr9FodFuvoy3atGnTYL2Od6i4W05yfyHraKfw8HCFhoa6LfP19W203vbt29er19GGoaGhzkewSVJpaanzoGqxWBptw+jo6AbXNSgoqN5zyc/1+x0ZGdlgvQEBAefdho6TA3dlZ2tDxwlJbbXbMDg42G29Vqv1rN9vd794kGr6s9p9ikQf4Y439RGOk7+6fbt08fQR0v/akD6CPqLu5/6YPkKqv+80Zx9xurqowXlaW1R09FnbwpvU7SO8vS0jIyMVVXJujylrLW3btq0Xp7fdgRFV69FutfsIb97etfuIqHN8NF1rcXceUXzMewazHW3p7jziQtjm/gHe8/4jk7Hh84iizDPuFvEIR1vWPY/wpu0dGhpar690fEdLKktVUVmhztdcIb+gAHeLt7jSojM68tnXKq6o2a6X6niEY8zAse5ca3CtUZc3Xmt4w3hE7fG2i7mPqFvWkn1EVFRUvcRgQ84pgREZGalf/vKXuvfeezVz5sx6t8n/4x//0O9//3uVlJRoypQp5/TBkrRr1y4tWLBAr7/+ussOa7PZ5Ofnp6uvvlo7d+50WWbv3r0ym83q1auXLBaLrFarvvjiC5cO4fPPP9eAAQMkqVnqaIjVanXeHlSb0Wh0O732cg0xmUz1fvnrYDAYGq23sQupxuqVdN71nm1dGyszm83OHa2p9TbWho3Ve7Y2PN9tI3lHG9bOel5obXghfr/Ptw3pI86t3tbuIxwJjIb69rPVSxvWoI/4n0upj3DE5a7+5vh+W71osNhqsTQas7epG6u3t6XVavWqGKULY5vXbjOXO+e9qC0bakeLxeJVcUru+1lTrcdNelrdtqzdz3pTWza0zc1nOZ60JscYjLtjlTfFWbctHecR3rS9zWZzg32lY//xCwpQQFiQ23lai/G/G/1iOk+Wzv181jFm4KiLa41zq5drjRoXWxteKuNtkne0Yd16m/IY3nM6C/vb3/6mxYsX69VXX9Vtt92m/fv3S5KOHDmiu+++W48++qh69+6trVu3aubMmef84VdddZWqqqr02GOPKS8vTxUVFdq6dat2796tYcOGaezYscrKytKGDRtUWlqqI0eOaPXq1Ro5cqTCw8MVFBSk0aNHa82aNTpy5IhKS0u1YcMG/fDDD0pMTJSkZqkDAAAAAAAAAAC0rnN+ifeoUaN044036rHHHtO4ceN0yy236K233lLbtm311FNPOV/Y2BQhISHauHGjVq5cqSFDhshut+uyyy7T448/7ny/RmpqqlasWKE//vGPCgoK0ogRIzRnzhxnHY888ohWrFih8ePHq6ioSFdccYU2bNjgfBZXTEzMj64DAAAAAAAAAAC0rnNOYEg1z8RatWqVnn32WS1ZskT33HOPHnzwwSbd8lFX586dtXbt2gbLr7nmGr3yyisNllutVs2fP1/z589v0ToAAAAAAAAAAEDraVICw+Huu+/WK6+8os6dO/+o5AUAAAA871jeceUX5Z/XsmVlZfruxHeyB1TXe6lfU4QHhatDRP2XwAEAAAAALl3nlMC4/vrr6007ffq0fve732np0qUu0w0Gg/bt29cswQEAAKBlHcs7roEPD1a5rdyjcfhYfPTBsndIYgAAAAAAnM45gWEwGFo6FgAAALSy/KJ8ldvKdVnfn8g3yN8jMZQVleiHvQeVX5RPAgMAAAAA4HROCYxly5a1dBwAAADwIN8gf/mHBnk6DAAAAAAAnIyeDgAAAAAAAAAAAKAuEhgAAAAAAAAAAMDrkMAAAAAAAAAAAABehwQGAAAAAAAAAADwOiQwAAAAAAAAAACA1yGBAQAAAAAAAAAAvA4JDAAAAAAAAAAA4HVIYAAAAAAAAAAAAK9DAgMAAAAAAAAAAHgdEhgAAAAAAAAAAMDrkMAAAAAAAAAAAABex+zpAAAAAAAAAABP+/TTT7Vy5UoVFhbKYDBo2rRpuvLKK3XzzTerU6dOzvnCw8O1adMmSdKbb76pP//5zzpz5oxiY2O1fPlyRUdHS5LefvttrV27VqWlpfL19dXDDz+s+Pj4s5YBAP6HBAYAAAAAAAAuacXFxZo6dapWrVql+Ph4HThwQImJiXr22WclSdu2bau3zDfffKNHH31UL7/8srp27ar169fr0Ucf1YYNG/TDDz9o3rx5evHFF9W1a1e9/fbbmjlzpj766CMdO3aswTKTydTaqw4AXo1HSAEAAAAAAOCSVlVVpSVLljjvgujVq5cCAwNls9kaXGb37t3q16+funbtKkmaOHGiPvnkE50+fVo+Pj5KSUlxlt1www0qKCjQyZMnGy0DALjiDgwAAAAAAABc0kJCQjRkyBDn32lpaSorK1NAQIAk6cEHH9R//vMfBQcH67e//a369+8vg8Egu93uXMZischiseiHH35Qr169FBUV5SzbsWOHOnTooLZt28poNDZYBgBwxR0YAAAAAAAAwH99//33mjVrlhYsWKCoqCiNHj1akydP1htvvKF77rlHDzzwgE6ePKkBAwZoz549SktLU3V1tf7+97/LZrOpvLzcpb4vvvhCS5Ys0ZIlS2Q0Gs+5DABAAgMAAAAAAACQJO3fv1/jx4/XtGnTNHLkSIWHh+uJJ55Qt27dZDAYdMstt6hDhw7as2eP4uLi9MQTT+ixxx7TbbfdJpvNpsjISIWEhDjr+9e//qWkpCQtW7as3ku6GysDANTgEVIAAAAAAAC45KWnpyspKUlLlixRQkKCJKmgoEBFRUWKjY11zldVVSWLxSJJGjFihEaMGCFJOnXqlNavX6/LL79ckvThhx8qOTlZ69atU69evVw+q7EyAMD/cAcGAAAAAAAALmmVlZWaNWuWkpOTnckLSTpw4IASExN14sQJSdKuXbuUl5enfv36KTMzU8OHD1dubq4k6amnntKtt94qq9WqwsJCPfTQQ3rqqafqJSgaKwMAuOIODAAAAAAAAFzSPvzwQx05ckQpKSlKSUlxTk9KStLEiRN19913y2AwKCQkRGvXrlVoaKhCQ0M1cuRI3XXXXZKkvn37avHixZKkrVu3qqCgQHPnznX5nEWLFunw4cMNlvXv37+F1xQALiwkMAAAAAAAAHBJS0hIUHp6eoPlEydOdDt9ypQpmjJlSr3p48aN07hx49wu079//wbLAACueIQUAAAAAAAAAADwOiQwAAAAAAAAAACA1yGBAQAAAAAAAAAAvA4JDAAAAAAAAAAA4HVIYAAAAAAAAAAAAK9j9nQAAAAAAAAAgCcdyzuu/KJ8j8YQHhSuDhHtPRoDAHgbEhgAAAAAAAC4ZB3LO66BDw9Wua3co3H4WHz0wbJ3SGIAQC0kMAAAAAAAAHDJyi/KV7mtXO2v7iproL9HYqgoLtHxtG+UX5RPAgMAaiGBAQAAAAAAgEueNdBffqGBng4DAFALCQwAAAAAAADgAvDpp59q5cqVKiwslMFg0LRp0zRixAht3bpV69evl81mk7+/v+bMmaP4+Hi9/PLLeuaZZyRJ1dXVKi8v18mTJ/X3v/9dR44ccZY5ZGZm6m9/+5v69eunt99+W2vXrlVpaal8fX318MMPKz4+3hOrDeASRgIDAAAAAAAA8HLFxcWaOnWqVq1apfj4eB04cECJiYmKjIzU4sWLtXnzZsXGxurtt9/WjBkz9OGHH2rMmDEaM2aMJKmkpERbtmzRpk2bdNVVV6lfv37OMklKS0vTY489pquuuko//PCD5s2bpxdffFFdu3bV22+/rZkzZ+qjjz6SyWTyVBMAuAQZPR0AAAAAAAAAgMZVVVVpyZIlzrsgevXqpcDAQBmNRqWkpCg2NlaSNGDAABUWFiovL6/e8s8884zmzp0rs9lcr2zhwoWaP3++zGazfHx8lJKSoq5du0qSbrjhBhUUFOjkyZOtsKYA8D/cgQEAAAAAAAB4uZCQEA0ZMsT5d1pamsrKytStWzcFBwdLkux2u1566SX16NFD0dHRLstv27ZNISEh6tu3b726t27dqsjISF1zzTWSpKioKEVFRTnLd+zYoQ4dOqht27YtsWoA0CDuwAAAAAAAAAAuIN9//71mzZqlBQsWOJMXzz33nAYMGKDNmzdrxYoVMhgMLss888wzGjlypNv6nn76aU2ZMsVt2RdffKElS5ZoyZIlMhoZSgTQuuh1AAAAAAAAgAvE/v37NX78eE2bNs0lITF+/Hjt3r1bc+fOVWJionJycpxlX375pc6cOaMrrriiXn1ffvmliouLde2119Yr+9e//qWkpCQtW7aMF3gD8AgSGAAAAAAAAMAFID09XUlJSfrd736n0aNHO6ft3r1bkmQwGDRo0CBFREQoLS3NudyOHTs0cOBAt3Xu2LFDN954Y73pH374oZKTk7Vu3TolJCQ0/8oAwDkggQEAAAAAAAB4ucrKSs2aNUvJyckuCYXs7GzNnTvXecfFwYMHlZWVpe7duzvnSUtLU+fOnd3Wm5aWpi5durhMKyws1EMPPaSnnnpKvXr1aoG1AYBzw0u8AQAAAAAAAC/34Ycf6siRI0pJSVFKSopzelJSkiZNmqRx48bJbDbLZDJp4cKF6tixo3Oe7OxstWnTxm292dnZioyMdJm2detWFRQUaO7cuS7TFy1apP79+zffSgHAWZDAAAAAAAAAALxcQkKC0tPTGyyfMGFCg2Xbt29XSUmJvv76a7dldY0bN07jxo07rzgBoDnxCCkAAAAAAAAAAOB1SGAAAAAAAAAAAACvQwIDAAAAAAAAAAB4HRIYAAAAAAAAAADA65DAAAAAAAAAAAAAXsfs6QAAAAAAAAAANO5Y3nHlF+Wf9/JlZWX67sR3sgdUy9fX97zrCQ8KV4eI9ue9PAA0BQkMAAAAAAAAwIsdyzuugQ8PVrmt3NOhyMfiow+WvUMSA0CrIIEBAAAAAAAAeLH8onyV28oV1buLrIF+HoujorhUOfu/VX5RPgkMAK2CBAYAAAAAAABwAbAG+sk3JMDTYQBAq+El3gAAAAAAAAAAwOuQwAAAAAAAAAAAAF6HBAYAAAAAAAAAAPA6JDAAAAAAAAAAAIDXIYEBAAAAAAAAAAC8DgkMAAAAAAAAAADgdUhgAAAAAAAAAAAAr0MCAwAAAAAAAAAAeB0SGAAAAAAAAAAAwOuQwAAAAAAAAAAAAF7H7OkAAAAAAAAAAFw8Pv30U61cuVKFhYUyGAyaNm2aRowYoT179mjJkiUqLi5WUFCQHn30UfXt21eSlJubq0ceeUSHDh2Sj4+PkpKSdPvtt0uStm7dqvXr18tms8nf319z5sxRfHy8PvnkE/3qV79SbGys87OvuOIKpaSkeGS9ATQ/EhgAAAAAAAAAmkVxcbGmTp2qVatWKT4+XgcOHFBiYqKuuuoqzZgxQytXrtSAAQO0e/du/eY3v9HOnTvl4+Ojhx56SD179tTTTz+tw4cPKzk5WcOHD1dGRoYWL16szZs3KzY2Vm+//bZmzJihDz/8UJIUFRWlbdu2eXitAbQUHiEFAAAAAAAAoFlUVVVpyZIlio+PlyT16tVLgYGB+r//+z+Fh4drwIABkqT4+HgFBQXp448/VlZWlvbu3aspU6ZIkuLi4rRp0yZZrVb5+/srJSXFeZfFgAEDVFhYqLy8PM+sIIBWRQIDAAAAAAAAQLMICQnRkCFDnH+npaWprKxMfn5+Lo96kqTLL79c3333ndLT0xUdHa3U1FQNHz5cd955p3bt2iVJateunTPpYbfb9dJLL6lHjx6Kjo6W9L87PoYNG6aJEycqPT29ldYUQGsggQEAAAAAAACg2X3//feaNWuWFixYoNLSUvn4+LiU+/j4qKSkRIWFhcrIyFDHjh311ltvafr06Zo5c6ZOnDjhnPe5557TgAEDtHnzZq1YsUIGg0Ft2rTR8OHD9cgjj+jNN9/UwIEDdf/996u8vLy1VxVACyGBAQAAAAAAAKBZ7d+/X+PHj9e0adM0cuRI+fv7q6yszGWe8vJy+fv7KyQkRH5+fs6XdickJCgmJkZ79uxxzjt+/Hjt3r1bc+fOVWJionJychQXF6dFixapQ4cOMhqNmjhxooqKinTw4MFWXVcALYcEBgAAAAAAAIBmk56erqSkJP3ud7/T6NGjJUmdO3fWd9995zLfd999py5duig2NlZlZWWy2WzOMpPJJLPZrPT0dO3evVuSZDAYNGjQIEVERCgtLU25ubnKyspyqdNut8tqtbbwGgJoLSQwAAAAAAAAADSLyspKzZo1S8nJyUpISHBOj4+PV0lJiXbs2CFJ2r59u8rLy3XttdcqLi5OPXr00MaNGyXVvDcjIyNDffv2VXZ2tubOnaucnBxJ0sGDB5WVlaXu3btrx44deuCBB1RcXCxJeuGFFxQZGam4uLhWXmsALcXs6QAAAAAAAAAAXBw+/PBDHTlyRCkpKUpJSXFOT0pK0lNPPaVFixZpxYoVCgkJ0erVq513Syxfvlzz5s3T888/r8DAQKWkpCgiIkI33nijJk2apHHjxslsNstkMmnhwoXq2LGjLrvsMmVkZOiOO+6Q0WhUdHS01q5dK4vF4qnVB9DMSGAAAAAAAAAAaBYJCQlKT09vsPwf//iH2+kdO3bUCy+84LZswoQJmjBhQr3pRqNRc+bM0Zw5c84rVgDej0dIAQAAAAAAAAAAr0MCAwAAAAAAAAAAeB0SGAAAAAAAAAAAwOuQwAAAAAAAAAAAAF6HBAYAAAAAAAAAAPA6Zk8HAAAAAAAAAODicCzvuPKL8j0aQ3hQuDpEtPdoDACaBwkMAAAAAAAAAD/asbzjGvjwYJXbyj0ah4/FRx8se4ckBnAR8HgCIz8/X3/4wx/0wQcfqLCwULGxsZoyZYpGjBghSfroo4+0atUqffvttwoKCtL111+vefPmyd/fX5JUWlqq5cuX6/3331dBQYG6dOmiadOm6YYbbnB+RnPUAQAAAAAAAKBh+UX5KreVK7JnZ1kCfD0Sg+1MmU5+eUT5RfkkMICLgMffgTF16lR9//33evHFF/Xpp5/qF7/4hR588EHt27dPR48e1ZQpUzRkyBC9//772rhxo7766istXLjQufzjjz+uzz77TKmpqdq9e7dGjRqlpKQkHT58WJKapQ4AAAAAAAAA58YS4Cuf4ACP/OepxAmAluHRBEZxcbE6d+6sRx99VO3atZPFYlFiYqKCg4P1ySef6KWXXlJsbKx+9atfyd/fX7GxsUpKStIbb7yhvLw8nT59Wq+//rqmTp2quLg4+fj4aOzYserSpYs2bdokSc1SBwAAAAAAAAAAaF0efYRUYGCglixZ4jItPz9fZ86cUXR0tP71r3/pyiuvdCnv3bu3qqqqdODAAVmtVtlsNl111VX15tm3b58kad++fT+6DgAAAAAAAAAA0Lo8/g6M2ioqKjR79mx16dJFt9xyi9auXVsvsRAWFiZJysvLk4+PjyQpJCSk3jz5+fmSahIiP7aOxuI1mUzOv41GoywWi+x2u2w2W735HZ9VUVGh6upqlzKz2SyTyaSqqipVVla6lBkMBlmtVlVXV6uioqJevVarVQaDQTabTXa73aXMZDLJbDY3Wq8klZfXf7mSxWKR0WhstN6zrWtj9VZWVqqqqsqlrDnasLF6z9aG57ttzrauTW3Dc6237rrWXrcLrQ0vxO+3u3Vt6e/3xdaG3tRHONTt26WLp49wrOuF2M9eiN/vC6WPqFOVR1XYbCovL6/XR1S4aQ9PccRYm+O75I3qxuqtbVm7j/CmGCX329xisXgoGvdqt1ntPsKb2rJuO9buZ70pTsl9P1tV51jgSY62dHes8qa2rLvNnecRdY5/nuTYzO6O994UZ91t7jiP8KbtXVlZWa+vdJ6LedH+Y//vRq93Le1FbVl736l9judNMUo1+0jdbV77usobVNhsqqqq4lpDjEe4W9dLZbztbOvqqfEId+vaEK9JYJw8eVLTp09XWVmZ/vKXv3jdRYE7OTk5LoNcQUFBioqKUlVVlTIyMurN36VLF0nSiRMnVFZW5lIWFRWloKAgFRcX6+TJky5l/v7+at++vaqrq93W26lTJ5lMJuXm5urMmTMuZW3atFFoaKhKS0uVnZ3tUubj46PY2FhJUmZmZr2d4LLLLpPVatWpU6dUWFjoUhYWFqaIiAiVl5fr2LFjLmVms1kdO3aUJGVlZdXbgTp06CA/Pz+dPn1ap06dcikLDg5W27ZtVVlZWW9dDQaD4uLiJNW0fd2dJDo6WoGBgSouLlZubq5LWUBAgNq1aye73e62DTt37iyDwaDc3FyVlJS4lEVGRiokJEQlJSXKyclxKfP19VVMTIwkua338ssvl9FoVH5+voqKilzKwsPDFR4errKyMh0/ftylzGKx6PLLL5ckHT9+vN4OHxMTI19fXxUUFKigoMA5vfZ8NputXkxGo1GdO3eWJGVnZ9frLNq1a6eAgAAVFRUpLy/PpSwwMFDR0dENfr8d2+bkyZMqLS11KWvbtq2Cg4N15swZnThxwqXMz89PHTp0kOS+DTt27Ciz2ay8vDwVFxe7lEVERCgsLExlZWXKyspyKbNarbrsssskSceOHavXGcfGxsrHx0cFBQU6ffq0S1loaKjatGmjiooKZWZmupSZTCZ16tRJUs33u25H3r59e/n7+6uwsLBeEpQ+ooa39hGORHbdvl26ePoIqSZhHxkZSR9BH+FkN3rPoEJOdrYiLGH1+oicOv2TJ+VkZyvEEOQyzbHfeKO6fYS3tmXtPsKbYpRq9rmMOtvccXz0FjnZ2VLXmn/X7iO8qS3r7ju1zyO8KU7J/XlEua3+BbqnONrS3XmEN7Vl3W3uOI8oOVPSyFKtq8pe0z+6O4+oe87nSY62rHse4U3bu6CgQBlyPc9wXGu4G+DyFMf5bd1rDW9qy9r7jsu1hhfFKEnFRUX1zi3r/jjY03Kys3UmKo5rDTEe4XC+4xG1z6cZs2ye8Yi68TbGKxIY6enpmjJliq666io98cQTCggIkFTzRa67oo4vT5s2bZzZnoKCAucyjnnatGnTbHU0JCoqSn5+fs6/HZlmk8nU6EVN27Zt3WbMpJoBIF9f15cNGQwG5//d1ev43DZt2ig8PNylzDEI5+fnV29ZR72SnF9odzGFhYXVOwg56q3dobjTrl27etMcyamQkBAFBga6XRez2dxovVFRUY22Ye3tUrteo9Hotl5HW7Rp06bBeh3vUHG3nOT+QtbRTuHh4QoNDXVb5uvr22i97du3r1evow1DQ0MVFPS/i4LS0lLnQdVisTTahtHR0Q2ua1BQkPz9/V3KzvX7HRkZ2WC9AQEB592GjpMDd2Vna0PHCUlttdswODjYbb1Wq/Ws3293v3iQagbaa/cpEn2EO97URzhO/ur27dLF00dI/2tD+gj6CIeDx79p8LNaW1R0tEu/4Pj36eqihhZpdVHR0Y1+n7xN3T7C29syMjJSUSXRHorIvbZt29aL09t+bBUV/b82q91HePP2rn0eUTt+b+DuPKL4mPcMZjva0t15xIWwzf0D/BtapNWZjA2fRxRlnnG3iEc42rLueYQ3be/Q0NB6fWXtawJv4RgDqnut4U1tWXvfqX2t4W19ZWBQkGJjXLe50WhU9plzH5RsaVHR0c5zbq41GI+oqynjEbXH2xizbJ7xiKioqHqJwYZ4PIFx+PBhTZgwQePHj9e0adNcyq6++mrt3LnTZdrevXtlNpvVq1cvWSwWWa1WffHFFy4dwueff64BAwY0Wx0NsVqtbg/ERqOx0QN0Y48ZMJlM9X7562AwGBqtt7ELqcbqlRo/oWis3rOta2NlZrPZuaM1td7G2rCxes/Whue7bSTvaMPaWc8LrQ0vxO/3+bYhfcS51dvafYQjgdFQ3362emnDGvQR/3Oh9BHeNPZutVhcYnT82+pFg8V1Y/R2dWP19ra0Wq1eFaN0YWzz2m1Wu4/wprZsqB0tFotXxSm572dNXvRYlLptWftY5U1t2dA2NzdyTG5tjmOgu+O9N8VZty0d5xHetL3NZnODfaU37T/G/270uudi3tSW7vYdk8nkVTFKNfvIhXB8dJwbc63x4+u92NrwUhlvk7yjDevW25TH8Hr0KFJVVaU5c+bo1ltvrZe8kKSxY8cqKytLGzZsUGlpqY4cOaLVq1dr5MiRCg8PV1BQkEaPHq01a9boyJEjKi0t1YYNG/TDDz8oMTGx2eoAAAAAAAAAAACty6N3YKSlpemrr77SoUOH9NJLL7mUXXPNNXrmmWeUmpqqFStW6I9//KOCgoI0YsQIzZkzxznfI488ohUrVmj8+PEqKirSFVdcoQ0bNjifxRUTE/Oj6wAAAAAAAAAAAK3LowmMfv366eDBg43Oc8011+iVV15psNxqtWr+/PmaP39+i9YBAAAAAAAA4OJgt9uVmpqqVatW6c9//rNuuOEG7dq1S0uXLnWZLzs7W4899phGjhyp3NxcPfLIIzp06JB8fHyUlJSk22+/vcH6HD7++GOtWLFCp0+fVmhoqJYuXapu3bq16voCFyqPvwMDAAAAAAAAAFrTnDlzFBgY6PJy6YSEBCUkJDj/zsjI0IQJE/Szn/1MkvTQQw+pZ8+eevrpp3X48GElJydr+PDhslqtbuuTpPz8fE2bNk2rV69WfHy8tm7dqhkzZuitt95yeSEyAPe8501KAAAAAAAAANAKEhMTtWjRokZfYrx48WJNnz5dgYGBysrK0t69ezVlyhRJUlxcnDZt2uR8GXFD9aWlpalt27aKj4+XJN16660qLS0961NpANQggQEAAAAAAADgktKnT59Gy/fu3auMjAzddtttkqT09HRFR0crNTVVw4cP15133qldu3adtT6DwaCqqiqXaQEBATp69OiPWwHgEkECAwAAAAAAAABqWbdunSZPniyjsWb4tLCwUBkZGerYsaPeeustTZ8+XTNnztSJEycarefqq69Wbm6utm/fLknavn27MjMzVV5e3uLrAFwMSGAAAAAAAAAAwH/l5eXps88+09ChQ53TQkJC5Ofn53xpd0JCgmJiYrRnz55G6woLC9OaNWuUmpqqYcOGad++ferRo4dCQkJadB2AiwUv8QYAAAAAAACA/3r33XfVr18/+fv7O6fFxsaqrKxMNpvN+Z4Lk8kks/nsw6vx8fHavHmzJKmyslIDBw5U9+7dWyZ44CLDHRgAAAAtyG63a/369erRo4fef/995/Tc3FxNnjxZN954o4YOHaotW7Y4yz7++GONGjVKN998s0aPHq1Dhw45yz799FONGTNGw4YN0/Dhw/XGG2+cU50AAAAAzk1aWpq6dOniMi0uLk49evTQxo0bnfNkZGSob9++jdZVUlKioUOH6vDhw5KkjRs3qmfPnoqOjm6Z4IGLDHdgAAAAtKA5c+YoMDBQ4eHhLtMfeugh9ezZU08//bQOHz6s5ORkDR8+XMXFxZo2bZpWr16t+Ph4bd26VTNmzNBbb72lM2fOaOrUqVq1apXi4+N14MABJSYmqn///mrTpk2DdVqtVg+tPQAAAOB9iouLdeedd0qScnJylJycLD8/P82ePVuDBw9WTk6O4uLi6i23fPlyzZs3T88//7wCAwOVkpKiiIiIs9Y3ZcoUTZ48WdXV1erSpYuWLVvWqusLXMhIYAAAALSgxMRE9enTRx988IFzWlZWlvbu3avVq1dLqvk116ZNmyTV/JKrbdu2io+PlyTdeuut+v3vf6+DBw+qXbt2WrJkibOsV69eCgwM1NGjR2Wz2RqsEwAAAMD/BAYGatu2bQ2Wb9iwwe30jh076oUXXmhyfaNGjdKoUaOaHigAHiEFAADQkvr06VNvWnp6uqKjo5Wamqrhw4frzjvv1K5duyRJBoNBVVVVLvMHBATo6NGjCgkJ0ZAhQ5zT09LSVFZWpm7dujVaJwAAAAAAFyISGAAAAK2ssLBQGRkZ6tixo9566y1Nnz5dM2fO1IkTJ3T11VcrNzdX27dvlyRt375dmZmZKi8vd6nj+++/16xZs7RgwQIFBwc3WicAAAAAABciEhgAAACtLCQkRH5+frr99tslSQkJCYqJidGePXsUFhamNWvWKDU1VcOGDdO+ffvUo0cPhYSEOJffv3+/xo8fr2nTpmnkyJFnrRMAAAAAgAsR78AAAABoZbGxsSorK5PNZpPFYpEkmUwmmc01p2bx8fHavHmzJKmyslIDBw5U9+7dJdU8fiopKUlLlixRQkLCOdcJAAAAAMCFhjswAAAAWllcXJx69OihjRs3Sqp5l0VGRob69u2rkpISDR06VIcPH5Ykbdy4UT179lR0dLQqKys1a9YsJScnuyQvzlYnAAAAAAAXIn6SBwAA0EKKi4t15513SpJycnKUnJwsPz8/zZ49W8uXL9e8efP0/PPPKzAwUCkpKYqIiJAkTZkyRZMnT1Z1dbW6dOmiZcuWSZI+/PBDHTlyRCkpKUpJSXF+TlJSkm677bZG6wQAAABQ41jeceUX5Xs6DIUHhatDRPtG57Hb7UpNTdWqVav05z//WTfccIMyMzN18803q1OnTv+rKzxcmzZtkiS9+eab+vOf/6wzZ84oNjZWy5cvV3R0tCTp6NGjmjdvnnJycuTn56d58+bp+uuv18svv6xnnnnG5bMzMzP1t7/9Tf369WvmNQfOHQkMAACAFhIYGKht27Y1WP7CCy+4nT5q1CiNGjWq3vSEhASlp6c3WF/Hjh0brBMAAABATfJi4MODVW4r93Qo8rH46INl7zSaxJgzZ44CAwMVHh5er8zdtcY333yjRx99VC+//LK6du2q9evX69FHH9WGDRtkt9s1depU3XvvvRozZox2796tZ599Vtdff73GjBmjMWPGOOtJS0vTY489pquuuqpZ1hU4XyQwAAAAAAAAAFwS8ovyVW4rV/gVHWUJ8PVYHLYzZcr/+qjyi/IbTWAkJiaqT58++uCDD86p3t27d6tfv37q2rWrJGnixIlavXq1Tp8+rW+++UalpaW66667JNW8ey8+Pr5eHVVVVVq4cKGSk5N5px48jm8gAAAAAAAAgEuKJcBX1iB/T4dxVn369Gmw7MEHH9R//vMfBQcH67e//a369+8vg8Egu93unMdischiseiHH35Qenq6YmNjtWjRIu3evVuRkZGaO3euevfu7VLv1q1bFRkZqWuuuabF1gs4V7zEGwAAAAAAAAAuEP7+/ho9erQmT56sN954Q/fcc48eeOABnTx5UgMGDNCePXuUlpam6upq/f3vf5fNZlN5ebkKCwuVlpamYcOGadu2bRoxYoSSkpJUVlbmUv/TTz+tKVOmeGjtAFckMAAAAAAAAADgAhEeHq4nnnhC3bp1k8Fg0C233KIOHTpoz549iouL0xNPPKHHHntMt912m2w2myIjIxUSEqKQkBB16tRJ1113nQwGg8aOHavS0lIdOnTIWfeXX36p4uJiXXvttR5cQ+B/eIQUAAAAAAAAAFwgCgoKVFRUpNjYWOe0qqoqWSwWSdKIESM0YsQISdKpU6e0fv16XX755crKylJxcbFzGYPBIKPRKJPJ5Jy2Y8cO3Xjjja2zIsA5IIEBAADQQo7lHVd+Ub5HYwgPCm/0pYAAAAAALiwHDhzQo48+qs2bN6tt27batWuX8vLy1K9fP2VmZurXv/61nn32WbVp00ZPPfWUbr31VlmtVg0YMECVlZXatm2bhg0bpjfffFMBAQHOF35LUlpamn72s595cO0AVyQwAAAAWsCxvOMa+PBgldvKPRqHj8VHHyx7hyQGAAAAcIEpLi7WnXfeKUnKyclRcnKy/Pz8NHv2bE2cOFF33323DAaDQkJCtHbtWoWGhio0NFQjR47UXXfdJUnq27evFi9eLEkym81avXq1kpOTtXLlSoWFhWnVqlWyWq3Oz8zOzlZkZGTrryzQABIYAAAALSC/KF/ltnKF/uQymf19PBJDZUm5Cg7+oPyifBIYAAAAwAUmMDBQ27Zta7B84sSJbqdPmTKlwZdw9+7dW1u2bGmwzu3btzctSKCFkcAAAABoQWZ/H1kC/T0dBgAAAAAAFxyjpwMAAAAAAAAAAACoiwQGAAAAAAAAAADwOiQwAAAAAAAAAACA1yGBAQAAAAAAAAAAvA4v8QYAAAAAAAAAL3Ms77jyi/I9GkN4ULg6RLT3aAy4tJHAAAAAAAAAAAAvcizvuAY+PFjltnKPxuFj8dEHy94hiQGPIYEBAAAAAAAAAF4kvyhf5bZyBXWJkcnPxyMxVJWWq+jbTOUX5ZPAgMeQwAAAAAAAAAAAL2Ty85El0M/TYQAew0u8AQAAAAAAAACA1yGBAQAAAAAAAAAAvA4JDAAAAAAAAAAA4HVIYAAAAAAAAAAAAK9DAgMAAAAAAAAAAHgdEhgAAAAAAAAAgPNmt9u1fv169ejRQ++//75z+tatW/Xzn/9cw4YN06hRo7R7925n2d/+9jcNHz5cw4YN0y9/+Ut9/fXXzrI1a9Zo6NChGj58uB544AHl5OQ4PyclJUVDhw5VQkKC5s+fL5vN1norilZHAgMAAAAAAAAAcN7mzJmj48ePKzw83Dnt8OHDWrx4sdauXatt27bp/vvv14wZM1RRUaF///vfevbZZ7Vp0yZt27ZNQ4YM0YMPPihJeuedd/TPf/5Tmzdv1ltvvaXOnTvrsccekyS9/PLLevfdd7V582bt3LlTJ0+e1DPPPOOJVUYrIYEBAAAAAAAAADhviYmJWrRokSwWi3Oav7+/UlJSFBsbK0kaMGCACgsLlZeXp3bt2mnlypUKCwtzlh09elTV1dU6ePCgevbsqaCgIEnSddddp2+//VaS9O9//1u33XabgoKCZDabNWHCBL311lutvLZoTWZPBwAAAAAAAAAAuHD16dOn3rR27dqpXbt2kmoe/fTSSy+pR48eio6OlsFgcM5ns9n0yiuvaNCgQTIYDIqPj9fmzZuVk5OjyMhI7dixQ9dff70kyWAwyG63O5cNCAjQ999/38JrB08igQEAAAAAAAAAaBHPPfec1qxZo7CwMK1evdolefHkk0/qhRdeUFxcnFavXi1J6tu3r37+859r0KBB8vf3V1RUlP7+979Lkm644Qb95S9/0ahRoxQUFKTnnntO5eXlHlkvtA4eIQUAAAAAAAAAaBHjx4/X7t27NXfuXCUmJjpfyC1Js2fP1ieffKI77rhDY8eOVWlpqTZt2qS9e/fqk08+0WeffaaxY8dq0qRJkqRRo0Zp2LBhGj9+vO69915deeWVCg4O9tSqoRWQwAAAAAAAAAAANKv09HTt3r1bUs2jnwYNGqSIiAilpaVp79692r9/vyTJZDJp7Nixys/P17fffqtdu3ZpyJAhCgoKksFg0G233ab09HTl5+fLZDLpt7/9rbZv366XXnpJUVFRuuKKKzy5mmhhJDAAAAAAAAAAAM0qOztbc+fOdd5xcfDgQWVlZal79+5KT09XcnKyCgsLJUkffvihDAaDOnXqpC5duuiDDz5wPhrqvffeU2RkpMLCwvTmm29qypQpqqysVElJiVJTU3XXXXd5bB3R8ngHBgAAAAAAAADgvBQXF+vOO++UJOXk5Cg5OVl+fn6aPXu2Jk2apHHjxslsNstkMmnhwoXq2LGjLrvsMuXk5Oj222+X1WqVn5+f/vSnPykwMFAPPPCAlixZoltvvVVGo1FhYWF66qmnZDAYdNNNN2nnzp0aPHiwDAaDxowZo1tuucXDLYCWRAIDAAAAAAAAAHBeAgMDtW3btgbLJ0yYUG+a0WjUrFmzNGvWLLf1LV261G1dvr6+evLJJ887Vlx4eIQUAAAAAAAAAADwOiQwAAAAAAAAAACA1yGBAQAAAAAAAAAAvA4JDAAAAAAAAAAA4HVIYAAAAAAAAAAAAK9j9nQAAAAAAAAAAIALz7G848ovyvd0GAoPCleHiPaeDgMtgAQGAAAAAAAAAKBJjuUd18CHB6vcVu7pUORj8dEHy94hiXERIoEBAAAAAAAAAGiS/KJ8ldvKFdC5vUy+Vo/FUVVWoTNHau4EIYFx8SGBAQAAAAAAAAA4LyZfq8wBfp4OAxcpXuINAAAAAAAAAAC8DgkMAAAAAAAAAADgdUhgAAAAAAAAAAAAr0MCAwAAAAAAAAAAeB0SGAAAAAAAAAAAwOuQwAAAAAAAAAAAAF6HBAYAAAAAAAAAAPA6JDAAAAAAAAAAAIDXIYEBAAAAAAAAAAC8DgkMAABwwbLb7Vq/fr169Oih999/3zl9z549uuOOOzR48GCNGjVKe/fudZZ9+umnGjNmjIYNG6bhw4frjTfecJZ9/PHHGjVqlG6++WaNHj1ahw4dOqcyAAAAAADQ/MyeDgAAAOB8zZkzR4GBgQoPD3dOKy0t1YwZM7Ry5UoNGDBAu3fv1m9+8xvt3LlTNptNU6dO1apVqxQfH68DBw4oMTFR/fv3l9Fo1LRp07R69WrFx8dr69atmjFjht566y2dOnWqwTKDweDBFgAAAAAA4OLFHRgAAOCClZiYqEWLFslisTin7d69W+Hh4RowYIAkKT4+XkFBQfr4449VVVWlJUuWKD4+XpLUq1cvBQYG6ujRo0pLS1Pbtm2dZbfeeqtKS0t18ODBRssAAAAAAEDLIIEBAAAuWH369Kk37ejRo4qNjXWZdvnll+u7775TSEiIhgwZ4pyelpamsrIydevWTQaDQVVVVS7LBQQE6OjRo42WAQAAAACAlkECAwAAXFRKS0vl4+PjMs3Hx0clJSUu077//nvNmjVLCxYsUHBwsK6++mrl5uZq+/btkqTt27crMzNT5eXljZYBAAAAAICWQQIDAABcVPz9/VVWVuYyrby8XP7+/s6/9+/fr/Hjx2vatGkaOXKkJCksLExr1qxRamqqhg0bpn379qlHjx4KCQlptAwAAAAAALQMXuINAAAuKp07d9aLL77oMu27777T+PHjJUnp6elKSkrSkiVLlJCQ4DJffHy8Nm/eLEmqrKzUwIED1b1797OWAQAAAACA5scdGAAA4KISHx+vkpIS7dixQ1LN457Ky8t17bXXqrKyUrNmzVJycnK95EVJSYmGDh2qw4cPS5I2btyonj17Kjo6utEyAAAAAADQMrgDAwAAXJCKi4t15513SpJycnKUnJwsPz8/zZ49W0899ZQWLVqkFStWKCQkRKtXr5bVatWuXbt05MgRpaSkKCUlxVlXUlKSbrvtNk2ZMkWTJ09WdXW1unTpomXLlkmqeSxVQ2UAAAAAAKBlkMAAAAAXpMDAQG3btq3B8n/84x/1piUkJCg9Pb3BZUaNGqVRo0Y1uQwAAAAAADQ/HiEFAAAAAAAAAAC8DgkMAAAAAAAAAADgdUhgAAAAAAAAAAAAr0MCAwAAAAAAAAAAeB2vSGBkZmbqnnvu0U9+8hMdPnzYpeyjjz7S2LFj1a9fPw0aNEjJyckqKSlxlpeWluqxxx7TTTfdpD59+mjMmDF6//33m70OAAAAAAAAAADQesyeDuCdd97RwoULlZCQUK/s6NGjmjJlin7729/qmWeeUV5enn7zm99o4cKF+v3vfy9Jevzxx7V//36lpqYqJiZGr732mpKSkrRlyxbFxcU1Sx0AAMD7HMs7rvyifI/GEB4Urg4R7T0aAwAAAAAAFyuPJzAKCgr03HPP6eTJk3r11Vddyl566SXFxsbqV7/6lSTJ399fSUlJmjFjhh5++GGZzWa9/vrrWrFihTPRMHbsWL344ovatGmTkpOTm6UOAADgXY7lHdfAhwer3Fbu0Th8LD76YNk7JDEAAAAAAGgBHk9g3HXXXZKkkydP1ivbt2+frrzySpdpvXv3VlVVlQ4cOCCr1Sqbzaarrrqq3jz79u1rtjoAAIB3yS/KV7mtXH6XR8voa/VIDPayCpV+n638onwSGAAAAAAAtACPJzAak5+fXy+xEBYWJknKy8uTj4+PJCkkJKTePPn5+c1WR0MqKipkMpmcfxuNRlksFtntdtlstnrzOz6roqJC1dXVLmVms1kmk0lVVVWqrKx0KTMYDLJaraqurlZFRUW9eq1WqwwGg2w2m+x2u0uZyWSS2WxutF5JKi+v/wtWi8Uio9HYaL1nW9fG6q2srFRVVZVLWXO0YWP1nq0Nz3fbnG1dm9qG51pv3XWtvW4XWhteiN9vd+va0t/vi60NvamPcKjbt0sXTx/hWNcLsZ+tW2/Ff2M3+lpl8vet93mtqcJmc9kOjja02SobWsQjGto2dTaHRznasm4fUeHmu+opdbe3JOf+6I3qxuqtbVm7j/CmGCX329xisXgoGvdqt1ntftab2rJuO9Y+BnpTnJL7Y2BVneO0Jzna0t15hDe1Zd1t7jyPqHMO4UmOzezuXMyb4qy7zR3nYt60vSsrK+v1lc5rDS/af+z/3ej1rqW9qC1r7zu1z5O9KUapZh+pu81rX1d5gwqbTVVVVfWuNbytLWtv89rXgd4Wp7vrNW+75qmw2VRZWdns4xEX8njb2dbVU+MR7ta1IV6dwPB2OTk5LoNcQUFBioqKUlVVlTIyMurN36VLF0nSiRMnVFZW5lIWFRWloKAgFRcX17sbxd/fX+3bt1d1dbXbejt16iSTyaTc3FydOXPGpaxNmzYKDQ1VaWmpsrOzXcp8fHwUGxsrqeZF6nV3gssuu0xWq1WnTp1SYWGhS1lYWJgiIiJUXl6uY8eOuZSZzWZ17NhRkpSVlVVvB+rQoYP8/Px0+vRpnTp1yqUsODhYbdu2VWVlZb11NRgMzsd85eTk1NtJoqOjFRgYqOLiYuXm5rqUBQQEqF27drLb7W7bsHPnzjIYDMrNzXV5wbskRUZGKiQkRCUlJcrJyXEp8/X1VUxMjCS5rffyyy+X0WhUfn6+ioqKXMrCw8MVHh6usrIyHT9+3KXMYrHo8ssvlyQdP3683g4fExMjX19fFRQUqKCgwDm99nw2m61eTEajUZ07d5YkZWdn1+ss2rVrp4CAABUVFSkvL8+lLDAwUNHR0Q1+vx3b5uTJkyotLXUpa9u2rYKDg3XmzBmdOHHCpczPz08dOnSQ5L4NO3bsKLPZrLy8PBUXF7uURUREKCwsTGVlZcrKynIps1qtuuyyyyRJx44dq9cZx8bGysfHRwUFBTp9+rRLWWhoqNq0aaOKigplZma6lJlMJnXq1ElSzfe7bkfevn17+fv7q7CwsF4SlD6ihrf2EY5Edt2+Xbp4+gipJmEfGRl5wfcROXW+r56Uk52tEEOQJNc+Ije3/t2lntRQH2E3es+gQk52tiIsYfX6CG/d3g6O/cYb1e0jvLUta/cR3hSjVHNczqizzR3HR2+Rk50tda35d+3zCG9qy7r7Tu3zCG+KU3J/HuHpRxbW5mhLd+cR3tSWdbe54zyi5ExJI0u1rip7Tf/o7lqj7jmfJznasu61hjdt74KCAmXI9TzDca3hboDLUxznt3WvNbypLWvvOy7XGl4UoyQVFxXVO7es++NgT8vJztaZqLh61xre1pa1t3nt8Qhvi9PdeERBwakG5vaMnOxsnQ6/rNnHI2qfTzNm2TzjEXXjbYxXJzDatGlTb0UdX542bdo4sz0FBQUKCAhwmadNmzbNVkdDoqKi5Ofn5/zbkWk2mUyNXtS0bdvWbcZMqhkA8vV1/SWpwWBw/t9dvY7PbdOmjcLDw13KHINwfn5+9ZZ11CvJ+YV2F1NYWFi9g5Cj3toDnO60a9eu3jTHL9ZCQkIUGBjodl3MZnOj9UZFRTXahrW3S+16jUaj23odbdGmTZsG6/X392+0Dd3V62in8PBwhYaGui3z9fVttN727es/lsTRhqGhoQoK+t9FQWlpqfPE22KxNNqG0dHRDa5rUFCQ/P39XcrO9fsdGRnZYL0BAQHn3YaOZIW7srO1oWPws7babRgcHOy2XqvVetbvt7s7MKSagfbafYpEH+GON/URjmRU3b5dunj6COl/bXih9xGnq11PsDwpKjra7Tq3aRPpgWga1lAfcfD4Nx6Ixr2o6GiXfsHxb2/f3rW/p96mbh/h7W0ZGRmpqJJoD0XkXtu2bevF6W13YERF/6/Nap9HePP2rn0eUTt+b+DuPKL4mPcMZjva0t15xIWwzf0D/BtapNWZjA1faxRlnnG3iEc42rLutYY3be/Q0NB6fWXtawJv4RgDqnut4U1tWXvfqX2t4W19ZWBQkGJjXLe50WhU9plzH5RsaVHR0c7r8trXGt60vSXXbV57PMLrtrmb8YjC6uIG5vaMqOho5/hEc45H1B5vY8yyecYjoqKi6v14oCFencC4+uqrtXPnTpdpe/fuldlsVq9evWSxWGS1WvXFF1+4DFB+/vnnGjBgQLPV0RCr1er2QGw0Ghs9QDf2mAGTyVTvl78OBoOh0Xobu5BqrF6p8ROKxuo927o2VmY2m507WlPrbawNG6v3bG14vttG8o42rJ31vNDa8EL8fp9vG9JHnFu9rd1HOBIYDfXtZ6uXNqzRWn2E1YsGD60Wi9t1tli86zSroW3jTWPvddvS8e8LYXt7q7qxentbWq1Wr4pRujC2ee02q93PelNbNtxXWrwqTsn9scrkRY9FqduWtc8jvKktG9rm5kbOl1qb4xjo7lzMm+Ks25aOczFv2t5ms7nBvtKb9h/jfzd63fNZb2pLd/uOyWTyqhilmn3kQjg+Oq4val9reFtbutvmRqPR6+J0d73mbdc8VovFuW8z3vY/3jge0ZTH8HrPUcSNsWPHKisrSxs2bFBpaamOHDmi1atXa+TIkQoPD1dQUJBGjx6tNWvW6MiRIyotLdWGDRv0ww8/KDExsdnqAAAAAAAAAAAArcvjabKhQ4fq+PHjzltgbr/9dhkMBl1zzTV65plnlJqaqhUrVuiPf/yjgoKCNGLECM2ZM8e5/COPPKIVK1Zo/PjxKioq0hVXXKENGzY4n8UVExPzo+sAAAAAAAAAAACty+MJjO3btzdafs011+iVV15psNxqtWr+/PmaP39+i9YBAAAAAAAAAABaj1c/QgoAAAAAAAAAAFyaSGAAAAAAAAAAAACvQwIDAAAAAAAAAAB4HRIYAAAAAAAAAADA65DAAAAAAAAAAAAAXocEBgAAAAAAAAAA8DokMAAAAAAAAAAAgNchgQEAAAAAAAAAALwOCQwAAAAAAAAAAOB1SGAAAAAAAAAAAACvQwIDAAAAAAAAAAB4HRIYAAAAAAAAAADA65DAAAAAAAAAAAAAXocEBgAAAAAAAAAA8DokMAAAAAAAAAAAgNchgQEAAAAAAAAAALwOCQwAAAAAAAAAAOB1zJ4OAAAAAAAAAACA1pCZmambb75ZnTp1ck4LDw/Xpk2bdPToUc2bN085OTny8/PTvHnz1KdPH0nSzp07tWHDBpWWlsrX11cPP/yw4uPjJcntctdff71H1u9iQwIDAAAAAAAAAHBJ2bZtm8vfdrtdU6dO1b333qsxY8Zo9+7devbZZ9WnTx/l5OToscce04svvqiuXbvq7bff1syZM/XRRx/JYDC4XY4ERvMggQEAAAAAAAAAuKR9/vnnKi0t1V133SVJio+PV3x8vEpKSmSxWLRs2TJ17dpVknTDDTeooKBAJ0+eVGZmptvl0Dx4BwYAAAAAAAAA4JLy4IMP6pZbbtHYsWP1ySefKD09XbGxsVq0aJGGDh2q8ePHa//+/ZJqHjH105/+1Lnsjh071KFDB7Vt27bR5fDjkcAAAAAAAAAAAFwS/P39NXr0aE2ePFlvvPGG7rnnHj3wwAMqLCxUWlqahg0bpm3btmnEiBFKSkpSWVmZy/JffPGFlixZoiVLlshoNJ7zcjg/JDAAAAAAAAAAAJeE8PBwPfHEE+rWrZsMBoNuueUWdejQQXa7XZ06ddJ1110ng8GgsWPHqrS0VN9++61z2X/9619KSkrSsmXLnI+JCgkJcbvcoUOHPLWKFxUSGAAAAAAAAACAS0JBQYEyMjJcplVVVal79+4qLi52TjMYDDIajTKZTJKkjz/+WMnJyVq3bp0SEhKc88XGxja6HH4cEhgAAAAAAAAAgEvCgQMHlJiYqBMnTkiSdu3apby8PF199dWqrKzUtm3bJElvvvmmAgICFBcXpzNnzig5OVlPPfWUevXq5VLfgAED3C7neOE3fhyzpwMAAAAAAAAAAKA1DBw4UBMnTtTdd98tg8GgkJAQrV27VhEREVq9erWSk5O1cuVKhYWFadWqVbJarfroo490+vRpzZ0716WuRYsWqX///g0uhx+PBAYAADgnWVlZGjFihObPn69Ro0YpNzdXjzzyiA4dOiQfHx8lJSXp9ttvl1Rza+2KFSt0+vRphYaGaunSperWrdtZywAAAAAAaGkTJ07UxIkT603v3bu3tmzZ4jKtpKREgwcP1owZM+Tv7++2PnfLoXnwCCkAAHBOFi5cqNDQUOffDz30kK644gr961//0tq1a/XSSy+poqJC+fn5mjZtmubMmaOdO3dq4sSJmjFjhqqrqxstAwAAAAAAqI0EBgAAOKstW7bIbDbr2muvlVRzN8bevXs1ZcoUSVJcXJw2bdokq9WqtLQ0tW3bVvHx8ZKkW2+9VaWlpTp48GCjZQAAAAAAALWRwAAAAI3Ky8vT6tWrtXDhQue09PR0RUdHKzU1VcOHD9edd96pXbt2SZIMBoOqqqpc6ggICNDRo0cbLQMAAAAAAKiNBAYAAGjU4sWLNWnSJEVFRTmnFRYWKiMjQx07dtRbb72l6dOna+bMmTpx4oSuvvpq5ebmavv27ZKk7du3KzMzU+Xl5Y2WAQAAAAAA1EYCAwAANGjHjh3Kzc3V2LFjXaaHhITIz8/P+dLuhIQExcTEaM+ePQoLC9OaNWuUmpqqYcOGad++ferRo4dCQkIaLQMAAAAAAKjN7OkAAACA99q2bZuOHj2qm2++WZJ06tQpvffee4qPj1dZWZlsNpssFoskyWQyyWyuObWIj4/X5s2bJUmVlZUaOHCgunfvftYyAAAAAACa27G848ovyj+vZcvKyvTdie9kD6iWr6/veccQHhSuDhHtz3v5SxUJDAAA0KCVK1e6/P3www/r2muv1ahRo/SLX/xCGzdu1KRJk5SWlqaMjAz17dtXJSUluuOOO7R27VrFxcVp48aN6tmzp6KjoxstAwAAAACguR3LO66BDw9Wuc2zjy72sfjog2XvkMRoIhIYAADgvCxfvlzz5s3T888/r8DAQKWkpCgiIkKSNGXKFE2ePFnV1dXq0qWLli1bJkny9/dvsAwAAAAAgOaWX5Svclu5rDFtZfS1eiQGe1mFyjNPKL8onwRGE5HAAAAA56x2sqFjx4564YUX3M43atQojRo1qsllAAAAAAC0BKOvVUY/H0+HgSbiJd4AAAAAAAAAAMDrkMAAAAAAAAAAAABehwQGAAAAAAAAAADwOiQwAAAAAAAAAACA1yGBAQAAAAAAAAAAvI7Z0wEAAADvcizvuPKL8j0aQ3hQuDpEtPdoDAAAAAAAwLNIYAAAAKdjecc18OHBKreVezQOH4uPPlj2DkkMAAAAAAAuYSQwAACAU35Rvspt5TK1byOD1eKRGKorbCo/nqv8onwSGAAAAAAAXMJIYAAAgHoMVouMfj4e+Wy7Rz4VAAAAAAB4G17iDQAAAAAAAAAAvA4JDAAAAAAAAAAA4HVIYAAAAAAAAAAAAK9DAgMAAAAAAAAAAHgdEhgAAAAAAAAAAMDrkMAAAAAAAAAAAABehwQGAAAAAAAAAADwOiQwAAAAAAAAAACA1yGBAQAAAAAAAAAAvA4JDAAAAAAAAAAA4HVIYAAAAAAAAAAAAK9DAgMAAAAAAAAAAHgdEhgAAAAAAAAAAMDrkMAAAMCD7Ha71q9frx49euj9998/6/TMzEz95Cc/0bBhw5z/jRs3zlleUVGhJUuW6Cc/+YkOHz7cqusCAAAAAADQnMyeDgAAgEvZnDlzFBgYqPDw8HOa7rBt2za30++991799Kc/bfY4AQAAAAAAWht3YAAA4EGJiYlatGiRLBbLOU0/mzlz5mjatGnNGSIAAAAAAIBHkMAAAMCD+vTp06TpDg8++KBuueUWjR07Vp988sk5LwcAAAAAAHChIIEBAMAFxN/fX6NHj9bkyZP1xhtv6J577tEDDzygkydPejo0AAAAAACAZkUCAwCAC0h4eLieeOIJdevWTQaDQbfccos6dOigPXv2eDo0AAAAAACAZkUCAwCAC0hBQYEyMjJcplVVVTX5XRkAAAAAAADejgQGAOCSkpWVpT59+ujVV1+VJO3Zs0d33HGHbrvtNj3yyCPat2+fc97c3FxNnjxZN954o4YOHaotW7Z4KOr/OXDggBITE3XixAlJ0q5du5SXl6d+/fp5ODIAAAAAAIDmZfZ0AAAAtKaFCxcqNDRUklRaWqoZM2Zo5cqVuuqqq/TKK69ozpw5evfdd+Xj46OHHnpIPXv21NNPP63Dhw8rOTlZw4cPl9VqbZZYiouLdeedd0qScnJylJycLD8/P91///1at25dvemzZ8/W4MGDNXHiRN19990yGAwKCQnR2rVrFRoaqsOHD2vq1KnO+idPniyLxaIVK1aod+/ezRIzAAAAAABAayGBAeCSZbfblZqaqlWrVunPf/6zbrjhhkanS9LWrVu1fv162Ww2+fv7a86cOYqPj2/1GHNzc/XII4/o0KFD8vHxUVJSkm6//XaPxChJn376qVauXKnCwkIZDAZNmzZNI0aM8Kq2lKQtW7bIbDbr2muvlSTt3r1b4eHhGjBggEpKStSzZ08FBQXp448/Vrdu3bR3716tXr1akhQXF6dNmzY1azyBgYHatm2b27KRI0c2uNzEiRM1ceLEetPj4uIarA8AAAAAAOBCQwIDHpOVlaURI0Zo/vz5ioiI0NKlS13Ks7Oz9dhjjzU6iNdSGhpYffvtt/WnP/1JFRUVioyM1OLFixUXF9fq8UlSZmambr75ZnXq1Mk5LTQ0VCNGjNA999yj2NhY5/QrrrhCKSkpnghTkvvB9r59+9aLPzw8vNkHiBszZ84cBQYGKjw8/JymHz58WIsXL9bmzZsVGxurt99+WzNmzNCHH37YbL/IP9cYG7ozICMjo9VjLC4u1tSpU7Vq1SrFx8c7H3HUv39/LV261GvaMi8vT6tXr9bzzz/v3B+OHj3qsq9IUmxsrL777jvZ7XZFR0crNTVV27ZtU0BAgKZPn66EhIQWiQ8AAAAAAACuSGDAY2o/xiUhIcFlUDAjI0MTJkzQz372s1aPq6GB1S1btuiRRx7RCy+8oK5du+qVV17R7Nmz9X//93+tHmNttX9tXVJSon/84x+KjIz0ql9huxts79WrlyR5NM7ExET16dNHH3zwwTlN9/f3V0pKinPAe8CAASosLFReXp7atWvXajFmZWU1eGeAJ2KsqqrSkiVLnHdP9OrVS4GBgTp69KhXteXixYs1adIkRUVFOaeVlpbKx8fHZT4fHx+VlJSosLBQGRkZ6tixo9566y3t2rVLM2fO1Pbt29W2bdsWiREAAAAAAAD/w0u84RF1H+NS1+LFizV9+nQFBga2cmQND6y+9tpr6tu3r7p27SpJGjVqlL7//nt9++23rR7jhcQx2D5lyhRJ/xtsb6lf2TdFnz59mjS9Xbt2GjBggKSaRzu99NJL6tGjh6Kjo1s1xvT0dOedAcOHD9edd96pXbt2eSzGkJAQDRkyxPl3WlqaysrK1K1bN69pyx07dig3N1djx451me7v76+ysjKXaeXl5fL391dISIj8/Pycj+ZKSEhQTEyM9uzZ0yIxAgAAAAAAwBV3YKDVuXuMS2179+5VRkaGbrvtNg9EVzOw6vgFeO2B1fz8fJdHzZhMJsXExOi7775Tly5dPBKrJD344IP6z3/+o+DgYCUlJUmSzpw5o6lTp+rw4cNq166dHnroIXXv3t0j8dUebK/9GB7Ho7dqx//b3/5W/fv390icTfHcc89pzZo1CgsL0+rVq2UwGFr188/lzgBPxfj9999r1qxZWrBggYKDg886f2vFuW3bNh09elQ333yzJOnUqVN67733FBMTo+LiYpd5jx49qnvvvVft2rVTWVmZbDabLBaLpJr93mzm0AkAAAAAANAauAMDrc7dY1xqW7dunSZPniyj0bNfz+eee04DBgzQ5s2btWLFikYfNeMJ/v7+Gj16tCZPnqw33nhD99xzj2bOnCmLxaIhQ4bokUce0ZtvvqmBAwfq/vvvV3l5uUfirDvYPn36dM2cOVMmk6le/A888IBOnjzpkTibYvz48dq9e7fmzp2rxMRE5eTktOrnn8udAZ6Icf/+/Ro/frymTZt2zu+uaa04V65cqX//+99699139e6772ro0KF66KGH9MILL6ikpEQ7duyQVPMy8oqKCl177bWKi4tTjx49tHHjRkk1d5ZkZGSob9++LRIjAAAAAAAAXPEzUrSqhh7j4pCXl6fPPvtMf/rTn1o5svrGjx+vxMRE/etf/1JiYqKGDBni9lEzAQEBHokvPDxcTzzxhPPvW265RWvXrlVeXp4effRR+fv7S5ImTpyop556SgcPHlTv3r1bPc6GBtvT0tLqxf/nP/9Ze/bs0fDhw1s9znORnp6uU6dOKT4+XgaDQYMGDVJERITS0tI0bNiwVosjNja2wTsDPBVjenq6kpKStGTJknN6ybW3tKXVatVTTz2lRYsWadmyZbJarVq5cqXzEWfLly/XvHnz9PzzzyswMFApKSmKiIj4UZ95LO+48ovymyP88xYeFK4OEe09GgMAAAAAAMDZkMBAq2roMS6ZmZmaMWOG3n33XfXr1885+O4JDQ2sRkVFKS0tzTmfzWZTZmam81FIra2goEBFRUUuj7WqrKxURUWFsrOz1blzZ+d0u93usXdONDbYnpGR4RJ/VVWVcx5vlJ2dreTkZG3evFlRUVE6ePCgsrKyWv3xXLXvDJg0aZLLnQEHDhxo9RgrKys1a9YsJScnn1PyQvJ8Wy5btsz57969e+sf//iHSkpK9PXXX+uKK65wlnXs2FEvvPBCs33usbzjGvjwYJXbPHNHlIOPxUcfLHuHJAYAAAAAAPBqJDDQqlauXOny98MPP6xrr71Wo0aNklTziBZPvk9Canhg9brrrtPf//53HThwQL169dKzzz6rLl26qFOnTh6J88CBA3r00Ue1efNmtW3bVrt27VJ+fr4KCgo0c+ZMbdq0SYGBgXrhhRcUGRnpsURLQ4PtlZWVSkxMdIk/Ly9P/fr1a5W4iouLdeedd0qScnJylJycLD8/P91///1at25dvemzZ8/W4MGDNWnSJI0bN05ms1kmk0kLFy5Ux44dWzXG2bNnN3hnwI033tiqMUrShx9+qCNHjiglJcXlvTZTpkzR+vXr3cbf2m3pLfKL8lVuK5chOlyyeihZV2FTeXa+8ovySWAAAAAAAACvRgIDXiUnJ8djA+0ODQ0A9+vXT7///e/1yCOPqLy8XNHR0frDH/7gsTgHDhyoiRMn6u6775bBYFBISIj++Mc/ymKxyNfXV3fccYeMRqOio6O1du1aj97Z4G6w/YYbblBOTo5L/GvXrlVoaGirxBQYGKht27a5LWvs/Q0TJkzQhAkTWiaoOhqLUVKDdwa0ZoxSzWPB0tPT3ZbdcccdDS7X2nF6FatFBl/P3BVV7ZFPBQAAAAAAaDoSGPCo2o9xkaQNGzZ4KBJXDQ2s3njjjbrxxhtbPZ6GTJw4URMnTnT+7XgEzm9+8xvNmzfPg5G5augxPHXjBwAAAAAAAAAHo6cDAAAAAAAAAAAAqIsEBgAAAAAAAAAA8Do8Quq/SktLtXz5cr3//vsqKChQly5dNG3aNN1www2eDg0AcA6O5R1XflH+eS9fVlam7058J3tAtXx9fc+rjvCgcF6MDQAAAAAA0ExIYPzX448/rv379ys1NVUxMTF67bXXlJSUpC1btnj8pdIAgMYdyzuugQ8PVrmt3KNx+Fh89MGyd0hiAAAAAAAANAMSGJJOnz6t119/XStWrHAmK8aOHasXX3xRmzZtUnJysocjBHCx+rF3DTSHc7lrwNvjzC/KV7mtXPbIUFVbPXNoM1RUqvxkgfKL8klgAAAAAAAANAMSGJK++uor2Ww2XXXVVS7Te/furX379nkkpguNtw9uSt4Ro9SycTbHI3CkC6MtL4ZB9wvlroELJU5JNckLH2srRlXrsz3yqQAAAAAAABcvEhiS8vNrBjhDQkJcpoeFhTnLarPb7ZKkoqIiVVRUOKcbDAZZLBbZ7XZVVlbWW85qrRlUs9lsqq52HeoymUwymUyqqqpSVVWVS5mj3urqatlstnr1WiwWGQwGt/UajUaZzeZG65Xksh4OZrNZRqOx0XrtdruO52Xp/nUzZHOzzq3JYrbomel/VnhgmHMbOeQW5mnKn6erorJ++7U2i8msdQ+sUnRYlLMNHd+XE6dPek1brrv/T2obEumc5vi+5Jw6oUlrHvCCGM1KTVqjdhHt3H6/T57O1f3rZnh8m1vMZq27f5XahkTW6yOyT2arQ2h7Vfr7yG40eCQ+o71a5pJyncg7qQCTv0uZI97cU7nqENpeVQG+qjYZPRKnocou05ky5eTmKMwvtF4/W1FWoc6RnVQdEKhqi4fuwDBXyhAZpIqyChUUFNRMq9PPOuI0+AdLHopTxkpVR/qrylbljLM2e6VdnSM7yeQfKoOHYqw2VKoq0lcVZRU6ffq022Ogoy19fSJkMFk8E6ePTWWRJpdtLv3veF9RZlPnyE4KMrWRqdozMVaZ/BUcWSl7pV1nzpxxex5ht9Vs8zb2EPmUnX/y+8fwtxtVGdnJ2ZbONvzv+YljeweUB8ha5JnvZUB5gDrXirE2i8Xi3HcsJVZVnfJcStNSYlXnyE6yV9pVUlJS7xzP0ZbGM2aV53rmWG48Y67XlrXPZ519epFBJcYyj8QoSdVFhga3udlsdm5zFRtVZqp/Lt0qio3OGEtKSiS5Xms42tJ8xixbflVjNbUYs5vtLbleazji9Cn1UfUpz5wT+ZT6OPed06dP17v+qayoUufITvIr9ZXhtGfOh/xKfV3a0t31mqMt/cv9ZD7tmf7Sv9zP7TZ3XPPayitrjo8VAfIt8swPT+wVNX263VbTV7q75nXEGWoLku8Zz8RptAW53eaVlZWy2+3O7R1WGSTfEs8cwy2V1eoc2Um2clu9vtIxbuDYfyKqguVT6pk4fatq+vQqW5VKSkqcbejgaMvI6hBZyj0To63aJGOdfaf2WJEjxgiFyVLh45EYJckmqyyRnWQrr6y3zQ0Gg/P4GGYIl7nSM/tOpcFHvv9ty6KionrjbY62DDGGy2z3XFtWGn0VUGeb1x5vc54DW9rIKA/1l5YAhUfaZa+0q6ioqN7Yi+Oax88aKZPRc8PMVdYglUYaVFFWocLCwnrjbY62tPiEyWjxzLWZ3W6TLdJS7/j4Y8Z9z2U8Wfpx4751x7jPtd66/WztZe32muvTmnax16ujLkN13QgvQVu3btXs2bP1+eefKyAgwDk9JSVF//znP/Xee++5zJ+Xl6ejR4+2cpQAAAAAAAAAAFwcOnbsqIiIiEbn4Q4MydlIBQUFLgmMU6dOqU2bNvXmDwkJUceOHeXj4yOj0TO/vgEAAAAAAAAA4EJjt9tVXl5e74lI7pDAkNSzZ09ZrVZ98cUX6tChg3P6559/rgEDBtSb32w2nzUzBAAAAAAAAAAA6gsMDDyn+bh9QFJQUJBGjx6tNWvW6MiRIyotLdWGDRv0ww8/KDEx0dPhAQAAAAAAAABwyeEdGP9VUVGhFStW6M0331RRUZGuuOIKzZkzR9dcc42nQwMAAAAAAAAA4JJDAgMAgFqqq6tlMBg8HQYA4BLCsQcA0JrsdjvvdAVwwaC3Ai5i5CeBc5eXlydJDCABPwLHHaBpOPYAP57dbvd0CMAFw3HcIXkB/Dhc97QueizgIpKfn6/Dhw/rq6++ksTFMHCu0tPTNWbMGO3fv9/ToQAXFI47wPnj2AOcn7rHHgZigXPDcQc4f1z3eJbZ0wEAaB4HDx7UvHnzVFlZqcLCQrVv317z589Xly5dZLVaPR0e4LXS09M1btw4TZ06Vb1793Yp45EeQMM47gDnj2MPcH449gDnp7HjDo+TAhrHscfz6KGAi8APP/ygSZMmafTo0Vq7dq2WL1+u8vJyTZ48WTt27FB5ebmnQwS8Unp6usaPH6/7779fkyZNUnV1tY4ePaovv/xSEr+qABrCcQc4fxx7gPPDsQc4P2c77pC8ABrGscc78BJv4CLwwgsvaM+ePXryySed0+x2u37961/ryy+/1LJlyzRo0CB+0QfUkpGRoaFDh+rRRx9VYmKiKioqlJSUpOzsbB07dkwdO3bUnDlzdO2118ps5oZFoDaOO8D54dgDnD+OPUDTcdwBfpznn39en3/+OcceDyPNClwEfvjhB6Wnpzv/ttlsMhqN2rBhg7p3766lS5eqtLRUBoOBFw0B//Xll18qODhYp06dkiRNmTJFISEheuKJJ7R+/XoFBARo3rx5ysjIkMRLuoDafvjhB3399dfOvznuAOfmyy+/VEhICMce4DwcPXpUhw4dcv7NsQc4uy+//FJBQUEqKCiQdPbjjt1u92C0gPeorKyUJGVmZnLs8QIkMIALVFlZmfMkZNCgQaqqqtKrr74qSbJYLKqoqJAkpaSkqLKyUuvXr5fEYwmAsrIylZaW6qc//akeffRRbd++Xbfffrvi4uL05JNPqnfv3rr22mv1zDPPKCAgQE899ZQk9h2gpKREubm5qqqq0qBBg2S32/Xaa69J4rgDnM2ZM2dUWFioPn36aN68edq+fbtGjhzJsQc4i+zsbOcLU2+++WYVFxfr//7v/yRx7AEak52drW+++UbDhw/X/Pnz9c9//lOjRo0663GHx0kB0n/+8x8tX75cNptNgwYN0pkzZzj2eBj3hwEXoG+++UZPPvmkjh8/rpiYGCUkJCgmJkZbtmxRZGSkBg4cKKvVKpvNpuDgYPXo0UNFRUWeDhvwuG+++UYrV67U8ePH1alTJw0bNkyTJk3Shg0bZLFYJElVVVWqrq6W1WrVlVdeqTNnzng4asDzvvnmGy1fvlzHjx9XRESERowYoZiYGL322mtq06YNxx2gEd98842WLVum48ePq127dho9erQmTZqk1NRUjj1AIwoLC3XHHXeoY8eOevjhh9WzZ0/FxcXpH//4hyIiIjj2AA1w7DuXX3655s+fr5///OeqqqrS008/zXEHOIv09HT98pe/1NSpU2WxWHT55Zerc+fOevXVVxUWFqaEhASOPR5AahW4wHz77bcaP368unbtqnvuuUeHDx/We++9p1/96lc6ceKE/vKXv2jnzp2SajLDZrNZoaGh8vX1lcSjCHDpcuw73bp10z333KODBw/qhRde0HXXXaf58+fr17/+tSTJZDI5n/9qsVgUExMjiX0Hl65Dhw5p/Pjx6tGjh37zm98oKytLhw4d0uzZs3Xy5Ek988wzeueddyRx3AHqcuw/PXv21MyZM/XDDz/o/fff1/Dhw7VgwQKOPUAjgoODFRISorKyMv31r39VZmamkpOTlZubq9TUVK55gAY49p3y8nL95S9/0b59+zRy5EgtXLhQ9913nySOO4A76enpSkxM1PTp0zV58mTZ7XZFRUVp6tSpOnHihF588UVt375dEsee1sZLvIELSFlZmR588EH16tVLU6ZMkSRlZWVp8ODBevXVV1VWVqbHHntMRqNRP/3pTzV8+HC99957Sk1N1SuvvKK4uDgPrwHgGQ3tO0OGDNFf/vIX9e/fX5KUn5+v48ePq2PHjtq8ebPWrFmjl176/+3de1BU5/3H8fcCigiIgkjUIFGUS3ARYsSmWonKtKmN1Qlt6gWTDASNjtGmipeqaKUGMEaMaOIlWrzhxFpxtJlmkigOoWONChFjtGm0iiZBYgwJqwgL7O8PsufnKuIlTXaNn9fMzrhnz3P2+5z163HPd5/neUO5I/csi8XCxIkTiY+PN77wbtmyhbKyMrKzsykqKmLZsmX4+PhgNpsZPny4rjsi37pR/hw9epT09HSsVqtxg+nEiROEhobq2iNyjWeffRabzYavry+1tbXMmDGD+vp6Zs6ciYeHBw8//DC//vWvde0RucbVuWO1WklJSeGhhx4CoKqqitOnT9OzZ09dd0S+9Z///IcxY8bw3HPPkZKSgtVqJSMjg9OnT9O5c2e+/vprzp8/j5+fH1FRUfre8wPTFFIid5HWrVtz4cIFOnbsCDTdlG3fvj333XcfFy5c4Kc//SlZWVns3r2bXbt28d577+Hu7s7mzZv1j6nc01rKHftCdXV1dezZs4e1a9fi6elJQ0MDGzduVO7IPa2hoYFLly4ZX3gBjh8/zqeffsrgwYOJiIigQ4cORERE8O6777J//35dd0S+1VL+DB8+nA4dOtCnTx8iIiLYsGEDJpNJ1x6RbzU0NODu7o7ZbKZt27YMGDCA5cuXs3jxYl566SUmTZpEaWkp7777LgcOHMDNzU3XHhFunDvr16+nffv2NDY2UlJSwsaNG3F3d8dqteq6I/e8+vp6Fi5ciK+vL6NGjcJms/G73/2OgIAABg4cyOHDh/nmm29wc3MjKiqKd955R997fmAqYIjcRSwWC42NjcbCQG3atKGxsZG6ujqsVis2m42wsDCmTZvG5MmTsdls1NfX4+Pj4+TIRZzrRrlTW1uL1WoFmoocI0aM4P7776dDhw4EBAQQGBjozLBFnM5isWC1Wo1h0atXr6agoIDc3Fw8PT0pKiriyJEj9OvXjylTpmCxWPD09NR1R4SW86dNmza89957HDp0iAcffJC5c+ca8yzbi+0i9zJ3d3cAgoOD2bx5M6mpqYwZM4aCggLGjx9PWVkZK1euZOrUqVRXV+vaI/KtG+XOzp07SU9Pp6SkhEWLFum6I3IVDw8P5s2bx7Rp05g7dy4+Pj5ERUWRkZEBQE1NDevWraOwsJD4+HimTJnCpUuXaN26ta49PxAVMETuIu3atWPRokW0bdvW2Ga1WvHy8iIgIMDYtnXrVi5cuMDzzz/vjDBFXE5LuePv74/NZsNkMrF7924qKyuZOHGiE6MVcR1du3ZlxYoVxjUmJiaGt956i+DgYAAiIyMZNmwYx44d49FHH8XT09OZ4Yq4lJvlT0REBAUFBXz55ZckJiY6M1QRl2Sz2XjggQeoqamhtraWQYMGcfLkSXJycggPD8fb25vWrVs7fA8SkZZzJyIigh49etCnTx9nhyniUsLCwli6dCm///3vqa+vZ/r06UDTTA1eXl6MGTOGNWvW8O9//5u4uDh97/mBqYAhcpfp1asX0PSfEpvNxrlz57BYLAQFBWEymdi0aRNLly5l69atTo5UxLXcau7k5+c7OVIR1xISEgI0TUlgXy/GPnLJ39+fuLg4OnXq5LT4RFzZzfKnX79++Pv7AxjFdBFpYjKZMJvNuLu7c/HiRc6cOcPrr7/Ok08+ycmTJ9m2bRtRUVG0adNGuSNylZvlzpYtWwgLC1PuiFyjV69e5Obmkp+fT9++fYGmxbrr6+vx9/enf//+9OjRw8lR3ptUwBC5S5lMJkwmE1arFZPJRGBgIPn5+SxbtoxNmzYRERHh7BBFXNLNcicyMtLZIYq4JDc3N6BpWhz7UOn8/HyOHDlCWlqaM0MTcXk3yp+ysjJmzJgBoJtIIs2or6/H19eX5cuXU1xczKRJkxg7dizvv/8+3bp1w8vLy9khirgk5Y7InenRowezZ8/G3d2dmpoavLy88PDwYMuWLRw/fpzu3bs7O8R7kgoYIne5gIAAQkNDycjIYMeOHWzatInevXs7OywRl6fcEbk9JpOJiooKkpKSCAgIoEOHDnzwwQesW7fOmBJHRJqn/BG5M15eXsTExLBx40bmzZvHqFGjAIiLi3NyZCKuTbkjcufc3d2xWCzk5uZy/PhxvL29OXbsGKtWraJLly7ODu+eZLLZbDZnByEid66qqopBgwbR2NjI9u3bNfJC5BYpd0Ru35UrV9i7dy8lJSU88MAD/OxnPzOmyBGRlil/RO5MeXk5J0+eZPDgwc4OReSuotwRuXM2m41Dhw6xa9cuevXqRXx8vP7f5kQqYIj8COzcuROz2UxoaKizQxG5qyh3RERERERERERclwoYIj8CWvRR5M4od0REREREREREXJcKGCIiIiIiIiIiIiIi4nLcnB2AiIiIiIiIiIiIiIjItVTAEBERERERERERERERl6MChoiIiIiIiIiIiIiIuBwVMERERERERERERERExOWogCEiIiIiIiIiIiIiIi5HBQwREREREREREREREXE5KmCIiIiIiLiQWbNmER4ebjwiIyMZMGAAqamp7N+/39nhOcXBgweJiYmhpKTE2aH86GVlZTF8+HAuXbrk7FBERERERFTAEBERERFxNf7+/hQXF1NcXMy+fftYuXIlAMnJyXz44YdOju6HVVFRwZQpU5g6dSoPPfSQs8P50Zs+fTre3t7MnDnT2aGIiIiIiKiAISIiIiLiatzc3AgMDCQwMJCgoCBiYmLIzMyksbGRffv2OTu8H1ROTg7t2rXjqaeecnYo9wQPDw9mz57NO++8Q1FRkbPDEREREZF7nAoYIiIiIiJ3kfbt2zs837FjB8OHD8dsNtO3b19SUlIcRmlUV1eTlpZG//79iY2NJSkpidLSUuP1IUOGMG/ePDZu3Mijjz6K2WwmMTGRsrIyh/fJy8tj2LBh9O7dm/79+5OSksKJEycc9qmsrGTatGnExcXRt29fnnnmGY4ePQrAuHHjHKbGuvpx4MCBZvt65swZdu3axfjx43F3dwfg3LlzNzzOrFmzHPo9f/58Bg4cSO/evYmPj+fPf/4zly9fdniPrKysZo+1detWAA4cOEB4ePh1N/OHDBnCCy+8YDwPDw9nyZIlzfbj2v1ff/11evfuzcmTJ43X//vf/2I2m3n11VdveAyATZs2NRvv1e9tsVjIyMjgF7/4BWazmYSEBNasWYPNZjP609xj3LhxAPTp04cBAwaQm5vbYiwiIiIiIt83FTBERERERFzchQsXyMzMJCgoiGHDhhnbt2/fzuzZs0lISGDnzp3k5eVhtVp56qmnqKioAODFF1+krKyM1atXs2PHDnx8fHj22Wf5+uuvjeMUFRVRVlbG2rVr2bJlC42NjUyYMMFYB2Hnzp1kZmYyduxY3n77bTZs2ICbmxvjx4/nypUrANTV1ZGSkkJ5eTmrV69m27Zt+Pn5kZyczPnz58nNzTWmxQJISkoynsfGxjbb7z179mCz2Rg8ePB1r02fPt1oX1xcjL+/v8Przz33HHv37mXBggX84x//YObMmezatYsZM2Y47Hf27Fmio6ON4/z1r3+93Y/ntiUnJxMdHU16ejo2mw2ABQsWEBkZyYQJE1pse/bsWQIDAx36fq3Jkyfz97//nalTp/Lmm2+SmprKihUrWLlyJbGxsUa75ORkAPbu3UtxcbFDwWLIkCGUlZVx/vz5/2HPRURERERuj4ezAxAREREREUdffvmlcVO/oaGB2tpaunbtSk5OjsON+rVr1zJo0CCmTp1qbFu6dCmDBg1ix44dTJo0iVGjRpGcnEyvXr0AePLJJyksLOTUqVPGe1y+fJlFixbh6ekJwIwZM3jmmWf45z//yc9//nOGDBnC7t27CQsLA6BLly6MGzeO1NRUPv74Y6KjoyksLOTjjz9m586dREZGAvCnP/2JhQsXcvbsWR5++GGHPnp5eREYGNjieXj//fcJDQ29rjgB4OPj49Deze3/f5tVWlrKoUOHyMnJISEhAYDg4GAqKirIzs7m888/p3PnzgCUl5cTGRlpHKu2trbFmP4X3NzcyMrKYsSIEWzfvp1WrVrxwQcfUFBQYIw0uZHy8nJCQseD//cAAAflSURBVEJueO6OHDnC/v37efHFF41iV7du3fjkk09Yv34948ePN9q2bdsWgI4dOxqfvZ398zp48CCPP/74d+qviIiIiMidUgFDRERERMTFtG/fnjfeeMN4/tVXXxm/mJ85cyZjxozBYrFw+vRpnnjiCYe2HTt2JDg4mI8++ghomg7I7vPPP+eNN96gc+fOhIeHG9vNZrPDDeyoqCgAPv30U6Cp2FBUVMSsWbP47LPPqK2tpaGhAYCqqioAysrKaNWqlVG8sPdj6dKld3wevvjii5sWOZpjn7bq2qKJvWDz0UcfGQWMc+fO8dhjj91xjHeqW7dupKWlsWTJEtzc3Jg2bRo9evS4abuzZ886fKbXOnLkCAADBw502P7II4+wceNGTp8+bRSiWtKpUyeg6TMQEREREXEWFTBERERERFyMu7s7ISEhxvOQkBBiYmKwWq1kZWXxq1/9ipqaGqBpJMK1fHx8jOmf7BITE/nwww/p1asXeXl5xq/vAXx9fR32tb/2zTffAJCdnc3mzZuZNGkSQ4cOxcfHhyNHjpCWlma0qa6uxtvb+zv23FF1dTVdunS57XYWiwW4vl/2c2U/NxUVFVy+fJnu3bvf9JiTJ092GB1RU1NzXSEhLy+PLVu20KpVKzp16sQvf/lLJk6c6DA65GojR45kyZIlNDQ0MHLkyJvG0NDQwJkzZ1rc1973a4syjY2NQFNB4lYKGPZzZ/87ICIiIiLiDCpgiIiIiIjcJcxmM7W1tZw5c8b4tb79hvXVLBYLXbt2ddi2bNkyTp06xapVq3j66afZsWMHAQEBANcVO+zP/fz8ANi9ezfDhg1jypQpxj72UQ52/v7+WCwWbDYbJpPpO/a0ia+vL9XV1bfdrl27dkBTAcTLy8vYbj+W/fVPPvkE4JZu6M+fP99hRId9weurPfHEE6SkpFBbW0txcTHZ2dm0b9+esWPHNnvMl19+mY4dO+Lh4UFmZiaZmZktxlBeXo7Vam0xXvtntmHDBuPPV7vVES3XnisREREREWfQIt4iIiIiIneJU6dOAU3T+/j4+NCzZ08OHjzosE9lZSVnz57FbDYDTdNGXbp0ieDgYOLj45kzZw4VFRXs37/faFNWVmYsxg1w7NgxAGNkQl1d3XXrUBQUFAAYi1CHhYVRX1/P4cOHjX1qampISkrirbfeuqP+BgYGUllZedvtoqOjATh06JDD9sOHD+Pm5saDDz4INK2V4evre0tTNwUGBhISEmI8PDyu/y1Yu3btCAkJISwsjOTkZDp06MCJEyeaPd6//vUv8vPzycjIICMjg4KCAvbs2dNiDKWlpZhMJuOzbY59VEhlZaVDvO3atcPLy8th5E1L7Of9TqbwEhERERH5X9EIDBERERERF9PY2Oiw9sClS5c4cOAAr776KmPHjuW+++4DIDU1lZkzZ7JixQoef/xxqqqqjF/9JyYmUldXx+jRo4mIiGDq1Kl4e3uzbds2PDw8iIiIMI7funVr5syZw4QJE7hy5QqLFy+mU6dODBgwAGhaO+Ltt99m+PDh+Pj4sHbtWu6//34ASkpKiI2NJSEhgR49epCenk52djbe3t689tprnDhxosU1G1oSFxfHvn37uHjxYrMLed9IdHQ0P/nJT8jKyqJt27aEhoZSUlLCqlWrGDlyJP7+/pw8eZKCggIee+yxG07xdLvsC65fuXKFwsJCqqqqiImJuW4/i8XCH//4R37zm9/Qv39/AEaNGkV6ejqxsbHN9rW8vJytW7fyyCOPtHguevfuzcCBA8nIyAAgIiKCzz77jOzsbGw2G3/7299uaYSMvTDWr1+/W+m6iIiIiMj3QgUMEREREREXc/HiRYdFmL29venWrRvTp09n9OjRxvaRI0fS2NjIX/7yF1atWkWbNm2Ii4tj0aJFxk3udevWkZmZybhx42hoaKB79+688sor9OzZ0zhOv379MJvNTJgwgS+++ILw8HBee+01Y5TB/PnzmTt3Lk8//TR+fn6MHj2aCRMm8NVXX7Fu3To8PDx4/vnnycvLIzMzk+TkZBobG4mKiiIvL89YMPt2DR06lJdeeonCwkISExNvq+3KlStZvHgxc+bMoaqqiqCgIJKSkpg8eTIXL15k5MiRREVFOUyL9V2tX7+e9evX06pVK7p27cq0adOajTs7O5u6ujpmzJhhbJs+fTp79+5lwYIFLF++/Lo2I0aMoGvXrjedZgogNzeXnJwcFi5cyIULF/Dz8yMhIYEXXnjhlqf3KiwsJDo6mqCgoFvaX0RERETk+2Cy2cd8i4iIiIjIPWfIkCH06dOHnJwcZ4fSrLS0NI4ePcqbb77psIi2fH/Kysr47W9/y5o1a4iPj3d2OCIiIiJyD9MaGCIiIiIi4rL+8Ic/UFVVxaZNm5wdyj2hvr6ezMxMhg4dquKFiIiIiDidChgiIiIiIuKyOnfuzPLly3nllVcoLS11djg/ei+//DLV1dUsXrzY2aGIiIiIiGgKKRERERERERERERERcT0agSEiIiIiIiIiIiIiIi5HBQwREREREREREREREXE5KmCIiIiIiIiIiIiIiIjLUQFDRERERERERERERERcjgoYIiIiIiIiIiIiIiLiclTAEBERERERERERERERl6MChoiIiIiIiIiIiIiIuBwVMERERERERERERERExOWogCEiIiIiIiIiIiIiIi7n/wDs6OdCXdQpkgAAAABJRU5ErkJggg=="/>
          <p:cNvSpPr>
            <a:spLocks noChangeAspect="1" noChangeArrowheads="1"/>
          </p:cNvSpPr>
          <p:nvPr/>
        </p:nvSpPr>
        <p:spPr bwMode="auto">
          <a:xfrm>
            <a:off x="155574" y="-144463"/>
            <a:ext cx="639953" cy="63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2961"/>
            <a:ext cx="12271249" cy="617950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55574" y="100584"/>
            <a:ext cx="11941938" cy="6126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Максимальное количество клиентов в возрасте 33-35 лет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74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61288"/>
            <a:ext cx="6007608" cy="569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61284"/>
            <a:ext cx="6007609" cy="569671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007608" y="1161286"/>
            <a:ext cx="6184392" cy="5696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61284"/>
            <a:ext cx="6431280" cy="56967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01168" y="100584"/>
            <a:ext cx="11759184" cy="374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rgbClr val="002060"/>
                </a:solidFill>
              </a:rPr>
              <a:t>Большая часть клиентов 72,3% мужчины</a:t>
            </a:r>
            <a:endParaRPr lang="ru-RU">
              <a:solidFill>
                <a:srgbClr val="00206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 flipH="1">
            <a:off x="201168" y="603504"/>
            <a:ext cx="11990832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Наибольшее количество клиентов в </a:t>
            </a:r>
            <a:r>
              <a:rPr lang="ru-RU" dirty="0" err="1" smtClean="0">
                <a:solidFill>
                  <a:schemeClr val="tx1"/>
                </a:solidFill>
              </a:rPr>
              <a:t>Мумбае</a:t>
            </a:r>
            <a:r>
              <a:rPr lang="ru-RU" dirty="0" smtClean="0">
                <a:solidFill>
                  <a:schemeClr val="tx1"/>
                </a:solidFill>
              </a:rPr>
              <a:t>, на втором и третьем месте </a:t>
            </a:r>
            <a:r>
              <a:rPr lang="ru-RU" dirty="0" err="1" smtClean="0">
                <a:solidFill>
                  <a:schemeClr val="tx1"/>
                </a:solidFill>
              </a:rPr>
              <a:t>Бангалор</a:t>
            </a:r>
            <a:r>
              <a:rPr lang="ru-RU" dirty="0" smtClean="0">
                <a:solidFill>
                  <a:schemeClr val="tx1"/>
                </a:solidFill>
              </a:rPr>
              <a:t> и Нью-Дели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57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69264"/>
            <a:ext cx="12192000" cy="3044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4014216"/>
            <a:ext cx="12192000" cy="2843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248"/>
            <a:ext cx="12192000" cy="31729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4216"/>
            <a:ext cx="12192000" cy="284378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4592" y="-64008"/>
            <a:ext cx="11951208" cy="393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Самое большое количество транзакций было в сентябре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56032" y="246888"/>
            <a:ext cx="11649456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Наибольшая сумма выручки была в августе, второе место - сентябрь</a:t>
            </a: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7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30936"/>
            <a:ext cx="12192000" cy="6227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936"/>
            <a:ext cx="12192000" cy="622706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37744" y="173736"/>
            <a:ext cx="11740896" cy="521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Самая платежеспособная группа в возрасте 46-60 лет</a:t>
            </a: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13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alpha val="1000"/>
                <a:lumMod val="42000"/>
                <a:lumOff val="58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04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58240" y="1630680"/>
            <a:ext cx="9890760" cy="2331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Спасибо за внимание</a:t>
            </a:r>
            <a:endParaRPr lang="ru-RU" sz="48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812280" y="5358384"/>
            <a:ext cx="4562856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Булгаков Виктор</a:t>
            </a:r>
          </a:p>
          <a:p>
            <a:pPr algn="ctr"/>
            <a:r>
              <a:rPr lang="en-US" dirty="0" smtClean="0"/>
              <a:t>viktor7386203@gmail.com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4065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71</Words>
  <Application>Microsoft Office PowerPoint</Application>
  <PresentationFormat>Широкоэкранный</PresentationFormat>
  <Paragraphs>11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Vicktor Bulgakov</dc:creator>
  <cp:lastModifiedBy>Vicktor Bulgakov</cp:lastModifiedBy>
  <cp:revision>11</cp:revision>
  <dcterms:created xsi:type="dcterms:W3CDTF">2025-11-01T09:16:38Z</dcterms:created>
  <dcterms:modified xsi:type="dcterms:W3CDTF">2025-11-01T11:07:34Z</dcterms:modified>
</cp:coreProperties>
</file>