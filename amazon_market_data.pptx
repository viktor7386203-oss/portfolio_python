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667" autoAdjust="0"/>
  </p:normalViewPr>
  <p:slideViewPr>
    <p:cSldViewPr snapToGrid="0">
      <p:cViewPr varScale="1">
        <p:scale>
          <a:sx n="66" d="100"/>
          <a:sy n="66" d="100"/>
        </p:scale>
        <p:origin x="130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F3DF-1991-4EDE-A28E-D1D8DBA7907A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5EC2B-5DC3-4406-A17B-9015A8262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269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F3DF-1991-4EDE-A28E-D1D8DBA7907A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5EC2B-5DC3-4406-A17B-9015A8262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055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F3DF-1991-4EDE-A28E-D1D8DBA7907A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5EC2B-5DC3-4406-A17B-9015A8262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856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F3DF-1991-4EDE-A28E-D1D8DBA7907A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5EC2B-5DC3-4406-A17B-9015A8262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74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F3DF-1991-4EDE-A28E-D1D8DBA7907A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5EC2B-5DC3-4406-A17B-9015A8262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282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F3DF-1991-4EDE-A28E-D1D8DBA7907A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5EC2B-5DC3-4406-A17B-9015A8262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488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F3DF-1991-4EDE-A28E-D1D8DBA7907A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5EC2B-5DC3-4406-A17B-9015A8262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337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F3DF-1991-4EDE-A28E-D1D8DBA7907A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5EC2B-5DC3-4406-A17B-9015A8262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1423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F3DF-1991-4EDE-A28E-D1D8DBA7907A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5EC2B-5DC3-4406-A17B-9015A8262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511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F3DF-1991-4EDE-A28E-D1D8DBA7907A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5EC2B-5DC3-4406-A17B-9015A8262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54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F3DF-1991-4EDE-A28E-D1D8DBA7907A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5EC2B-5DC3-4406-A17B-9015A8262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959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EF3DF-1991-4EDE-A28E-D1D8DBA7907A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5EC2B-5DC3-4406-A17B-9015A82622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8130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5552" y="0"/>
            <a:ext cx="12475464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21208" y="1207008"/>
            <a:ext cx="10698480" cy="1399032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Исследование </a:t>
            </a:r>
            <a:r>
              <a:rPr lang="ru-RU" sz="4800" dirty="0" err="1" smtClean="0"/>
              <a:t>маркетплейса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508760" y="1572768"/>
            <a:ext cx="9006840" cy="2670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666" y="5029200"/>
            <a:ext cx="4749196" cy="157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050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48056" y="0"/>
            <a:ext cx="11439144" cy="547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В исследуемой таблице находится 693 уникальных клиента, которые сделали 1687 уникальных заказов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74320" y="547960"/>
            <a:ext cx="11722608" cy="964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Все клиенты находятся в США. Если посмотреть распределение клиентов по штатам, то большинство находится в Калифорнии, что соответствует и большинству заказов из этого штата. Самый большой город по количеству клиентов - Нью-Йорк (от туда же наибольшее количество заказов). Наименьшее количество клиентов(заказов) в штате Миннесота. Наименьшее количество клиентов в </a:t>
            </a:r>
            <a:r>
              <a:rPr lang="ru-RU" dirty="0" err="1" smtClean="0">
                <a:solidFill>
                  <a:schemeClr val="tx1"/>
                </a:solidFill>
              </a:rPr>
              <a:t>Ньюарке</a:t>
            </a:r>
            <a:r>
              <a:rPr lang="ru-RU" dirty="0" smtClean="0">
                <a:solidFill>
                  <a:schemeClr val="tx1"/>
                </a:solidFill>
              </a:rPr>
              <a:t>, а заказов в </a:t>
            </a:r>
            <a:r>
              <a:rPr lang="ru-RU" dirty="0" err="1" smtClean="0">
                <a:solidFill>
                  <a:schemeClr val="tx1"/>
                </a:solidFill>
              </a:rPr>
              <a:t>Лейквуде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47472" y="2258568"/>
            <a:ext cx="11649456" cy="44714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648178"/>
            <a:ext cx="12203288" cy="521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6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28978" y="169333"/>
            <a:ext cx="11559822" cy="474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Максимальное количество заказов было в ноябре 2020. Можно отметить, что почти  за каждым месяцем роста приходился месяц падения заказов, но в целом наблюдалась положительная динамика роста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733778"/>
            <a:ext cx="12192000" cy="6124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778"/>
            <a:ext cx="12192000" cy="645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49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1494" y="0"/>
            <a:ext cx="11771453" cy="613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mtClean="0">
                <a:solidFill>
                  <a:schemeClr val="tx1"/>
                </a:solidFill>
              </a:rPr>
              <a:t>Лидером продаж является категория Техника, затем Товары для офиса (офисная мебель), на последнем месте фурнитура. Наибольшие продажи в подкатегории Телефоны, затем Стулья.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3458"/>
            <a:ext cx="12192000" cy="624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22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4091" y="115747"/>
            <a:ext cx="11713580" cy="4629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mtClean="0">
                <a:solidFill>
                  <a:schemeClr val="tx1"/>
                </a:solidFill>
              </a:rPr>
              <a:t>Наибольшие продажи в Нью-Йорке (штат Нью-Йорк), затем идет Сиэтл (Вашинготон) и Лос-Анжелес (Калифорния). На последнем месте Остин (Техас)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8734"/>
            <a:ext cx="12192000" cy="627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85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8815" y="196770"/>
            <a:ext cx="11597833" cy="277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mtClean="0">
                <a:solidFill>
                  <a:schemeClr val="tx1"/>
                </a:solidFill>
              </a:rPr>
              <a:t>Самые популярные товары это Easy-staple paper и staples 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562"/>
            <a:ext cx="12192000" cy="638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87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5666" y="0"/>
            <a:ext cx="11759878" cy="5787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Мы можем заметить лидерство по заказам в крупных городах категории </a:t>
            </a:r>
            <a:r>
              <a:rPr lang="ru-RU" dirty="0" err="1" smtClean="0">
                <a:solidFill>
                  <a:schemeClr val="tx1"/>
                </a:solidFill>
              </a:rPr>
              <a:t>Office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Suplies</a:t>
            </a:r>
            <a:r>
              <a:rPr lang="ru-RU" dirty="0" smtClean="0">
                <a:solidFill>
                  <a:schemeClr val="tx1"/>
                </a:solidFill>
              </a:rPr>
              <a:t>, второе место </a:t>
            </a:r>
            <a:r>
              <a:rPr lang="ru-RU" dirty="0" err="1" smtClean="0">
                <a:solidFill>
                  <a:schemeClr val="tx1"/>
                </a:solidFill>
              </a:rPr>
              <a:t>Furniture</a:t>
            </a:r>
            <a:r>
              <a:rPr lang="ru-RU" dirty="0" smtClean="0">
                <a:solidFill>
                  <a:schemeClr val="tx1"/>
                </a:solidFill>
              </a:rPr>
              <a:t>, третье с небольшим отставанием </a:t>
            </a:r>
            <a:r>
              <a:rPr lang="ru-RU" dirty="0" err="1" smtClean="0">
                <a:solidFill>
                  <a:schemeClr val="tx1"/>
                </a:solidFill>
              </a:rPr>
              <a:t>Technology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8734"/>
            <a:ext cx="12192000" cy="627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496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703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12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84790" y="162046"/>
            <a:ext cx="9931078" cy="694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 smtClean="0">
                <a:solidFill>
                  <a:schemeClr val="tx1"/>
                </a:solidFill>
              </a:rPr>
              <a:t>Выводы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" y="856526"/>
            <a:ext cx="12192000" cy="6001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1.	В исследуемой таблице находится 693 уникальных клиента, которые сделали 1687 уникальных заказов</a:t>
            </a:r>
          </a:p>
          <a:p>
            <a:r>
              <a:rPr lang="ru-RU" dirty="0">
                <a:solidFill>
                  <a:schemeClr val="tx1"/>
                </a:solidFill>
              </a:rPr>
              <a:t>2.	Все клиенты находятся в США. Если посмотреть распределение клиентов по штатам, то большинство находится в Калифорнии, что соответствует и большинству заказов из этого штата. Самый большой город по количеству клиентов - Нью-Йорк (от туда же наибольшее количество заказов). Наименьшее количество клиентов(заказов) в штате Миннесота. Наименьшее количество клиентов в </a:t>
            </a:r>
            <a:r>
              <a:rPr lang="ru-RU" dirty="0" err="1">
                <a:solidFill>
                  <a:schemeClr val="tx1"/>
                </a:solidFill>
              </a:rPr>
              <a:t>Ньюарке</a:t>
            </a:r>
            <a:r>
              <a:rPr lang="ru-RU" dirty="0">
                <a:solidFill>
                  <a:schemeClr val="tx1"/>
                </a:solidFill>
              </a:rPr>
              <a:t>, а заказов в </a:t>
            </a:r>
            <a:r>
              <a:rPr lang="ru-RU" dirty="0" err="1">
                <a:solidFill>
                  <a:schemeClr val="tx1"/>
                </a:solidFill>
              </a:rPr>
              <a:t>Лейквуде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r>
              <a:rPr lang="ru-RU" dirty="0">
                <a:solidFill>
                  <a:schemeClr val="tx1"/>
                </a:solidFill>
              </a:rPr>
              <a:t>3.	Максимальное количество заказов было в ноябре 2020. Можно отметить, что почти за каждым месяцем роста приходился месяц падения заказов, но </a:t>
            </a:r>
            <a:r>
              <a:rPr lang="ru-RU" dirty="0" err="1">
                <a:solidFill>
                  <a:schemeClr val="tx1"/>
                </a:solidFill>
              </a:rPr>
              <a:t>вцелм</a:t>
            </a:r>
            <a:r>
              <a:rPr lang="ru-RU" dirty="0">
                <a:solidFill>
                  <a:schemeClr val="tx1"/>
                </a:solidFill>
              </a:rPr>
              <a:t> наблюдалась положительная динамика роста.</a:t>
            </a:r>
          </a:p>
          <a:p>
            <a:r>
              <a:rPr lang="ru-RU" dirty="0">
                <a:solidFill>
                  <a:schemeClr val="tx1"/>
                </a:solidFill>
              </a:rPr>
              <a:t>4.	Наибольшие продажи $89,3К были в ноябре 2020 года, наименьшие $39,1К в августе 2020 года. С августа начался продолжительный период роста выручки с небольшим снижением сентябре, октябре и пиком в ноябре.</a:t>
            </a:r>
          </a:p>
          <a:p>
            <a:r>
              <a:rPr lang="ru-RU" dirty="0">
                <a:solidFill>
                  <a:schemeClr val="tx1"/>
                </a:solidFill>
              </a:rPr>
              <a:t>5.	Лидером продаж является категория Техника, затем Товары для офиса (офисная мебель), на последнем месте фурнитура. Наибольшие продажи в подкатегории Телефоны, затем Стулья.</a:t>
            </a:r>
          </a:p>
          <a:p>
            <a:r>
              <a:rPr lang="ru-RU" dirty="0">
                <a:solidFill>
                  <a:schemeClr val="tx1"/>
                </a:solidFill>
              </a:rPr>
              <a:t>6.	Наибольшие продажи в Нью-Йорке (штат Нью-Йорк), затем идет Сиэтл (</a:t>
            </a:r>
            <a:r>
              <a:rPr lang="ru-RU" dirty="0" err="1">
                <a:solidFill>
                  <a:schemeClr val="tx1"/>
                </a:solidFill>
              </a:rPr>
              <a:t>Вашинготон</a:t>
            </a:r>
            <a:r>
              <a:rPr lang="ru-RU" dirty="0">
                <a:solidFill>
                  <a:schemeClr val="tx1"/>
                </a:solidFill>
              </a:rPr>
              <a:t>) и Лос-Анжелес (Калифорния). На последнем месте </a:t>
            </a:r>
            <a:r>
              <a:rPr lang="ru-RU" dirty="0" err="1">
                <a:solidFill>
                  <a:schemeClr val="tx1"/>
                </a:solidFill>
              </a:rPr>
              <a:t>Остин</a:t>
            </a:r>
            <a:r>
              <a:rPr lang="ru-RU" dirty="0">
                <a:solidFill>
                  <a:schemeClr val="tx1"/>
                </a:solidFill>
              </a:rPr>
              <a:t> (Техас).</a:t>
            </a:r>
          </a:p>
          <a:p>
            <a:r>
              <a:rPr lang="ru-RU" dirty="0">
                <a:solidFill>
                  <a:schemeClr val="tx1"/>
                </a:solidFill>
              </a:rPr>
              <a:t>7.	Самые популярные товары это </a:t>
            </a:r>
            <a:r>
              <a:rPr lang="ru-RU" dirty="0" err="1">
                <a:solidFill>
                  <a:schemeClr val="tx1"/>
                </a:solidFill>
              </a:rPr>
              <a:t>Easy-staple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paper</a:t>
            </a:r>
            <a:r>
              <a:rPr lang="ru-RU" dirty="0">
                <a:solidFill>
                  <a:schemeClr val="tx1"/>
                </a:solidFill>
              </a:rPr>
              <a:t> и </a:t>
            </a:r>
            <a:r>
              <a:rPr lang="ru-RU" dirty="0" err="1">
                <a:solidFill>
                  <a:schemeClr val="tx1"/>
                </a:solidFill>
              </a:rPr>
              <a:t>staples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r>
              <a:rPr lang="ru-RU" dirty="0">
                <a:solidFill>
                  <a:schemeClr val="tx1"/>
                </a:solidFill>
              </a:rPr>
              <a:t>8.	Мы можем заметить лидерство по заказам в крупных городах категории </a:t>
            </a:r>
            <a:r>
              <a:rPr lang="ru-RU" dirty="0" err="1">
                <a:solidFill>
                  <a:schemeClr val="tx1"/>
                </a:solidFill>
              </a:rPr>
              <a:t>Office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Suplies</a:t>
            </a:r>
            <a:r>
              <a:rPr lang="ru-RU" dirty="0">
                <a:solidFill>
                  <a:schemeClr val="tx1"/>
                </a:solidFill>
              </a:rPr>
              <a:t>, второе место </a:t>
            </a:r>
            <a:r>
              <a:rPr lang="ru-RU" dirty="0" err="1">
                <a:solidFill>
                  <a:schemeClr val="tx1"/>
                </a:solidFill>
              </a:rPr>
              <a:t>Furniture</a:t>
            </a:r>
            <a:r>
              <a:rPr lang="ru-RU" dirty="0">
                <a:solidFill>
                  <a:schemeClr val="tx1"/>
                </a:solidFill>
              </a:rPr>
              <a:t>, третье с небольшим </a:t>
            </a:r>
            <a:r>
              <a:rPr lang="ru-RU" dirty="0" err="1">
                <a:solidFill>
                  <a:schemeClr val="tx1"/>
                </a:solidFill>
              </a:rPr>
              <a:t>отоставание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Technology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r>
              <a:rPr lang="ru-RU" dirty="0">
                <a:solidFill>
                  <a:schemeClr val="tx1"/>
                </a:solidFill>
              </a:rPr>
              <a:t>9.	Мы можем сделать вывод, что динамика продаж в категории Товары для офиса ближе всего соответствовала общей динамике продаж. Категории Техника и Фурнитура имели как однонаправленные участки (в основном) так и незначительные разнонаправленные с общей динамикой периоды.</a:t>
            </a:r>
          </a:p>
        </p:txBody>
      </p:sp>
    </p:spTree>
    <p:extLst>
      <p:ext uri="{BB962C8B-B14F-4D97-AF65-F5344CB8AC3E}">
        <p14:creationId xmlns:p14="http://schemas.microsoft.com/office/powerpoint/2010/main" val="2513265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5552" y="0"/>
            <a:ext cx="12475464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21208" y="1207008"/>
            <a:ext cx="10698480" cy="1399032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Спасибо за внимание</a:t>
            </a:r>
            <a:endParaRPr lang="ru-RU" sz="4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508760" y="1572768"/>
            <a:ext cx="9006840" cy="2670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7836061" y="5046562"/>
            <a:ext cx="3383627" cy="10417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mtClean="0"/>
              <a:t>Булгаков Виктор</a:t>
            </a:r>
          </a:p>
          <a:p>
            <a:pPr algn="ctr"/>
            <a:r>
              <a:rPr lang="en-US" smtClean="0"/>
              <a:t>viktor7386203@gmail.com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59394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200</Words>
  <Application>Microsoft Office PowerPoint</Application>
  <PresentationFormat>Широкоэкранный</PresentationFormat>
  <Paragraphs>21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Vicktor Bulgakov</dc:creator>
  <cp:lastModifiedBy>Vicktor Bulgakov</cp:lastModifiedBy>
  <cp:revision>10</cp:revision>
  <dcterms:created xsi:type="dcterms:W3CDTF">2025-11-02T11:49:37Z</dcterms:created>
  <dcterms:modified xsi:type="dcterms:W3CDTF">2025-11-02T13:29:31Z</dcterms:modified>
</cp:coreProperties>
</file>